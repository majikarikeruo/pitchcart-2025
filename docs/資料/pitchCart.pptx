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9FF7B5-878B-4730-80FE-80C368E4403F}">
  <a:tblStyle styleId="{8F9FF7B5-878B-4730-80FE-80C368E440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f29dbc6f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f29dbc6f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8702957b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8702957b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5f29dbc6f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5f29dbc6f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5f29dbc6f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5f29dbc6f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86fe107e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86fe107e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86fe107e5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86fe107e5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86fe107e5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86fe107e5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6fe107e5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86fe107e5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86fe107e5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86fe107e5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8702957be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8702957be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f29dbc6fe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5f29dbc6fe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jpg"/><Relationship Id="rId5" Type="http://schemas.openxmlformats.org/officeDocument/2006/relationships/image" Target="../media/image4.png"/><Relationship Id="rId6"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hyperlink" Target="https://sido.jp/#top2022" TargetMode="External"/><Relationship Id="rId5"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60700" y="1343750"/>
            <a:ext cx="8622600" cy="15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1180">
                <a:solidFill>
                  <a:srgbClr val="434343"/>
                </a:solidFill>
              </a:rPr>
              <a:t>オーディエンスの反応を予測するプレゼンツール</a:t>
            </a:r>
            <a:r>
              <a:rPr lang="ja" sz="1480">
                <a:solidFill>
                  <a:srgbClr val="434343"/>
                </a:solidFill>
              </a:rPr>
              <a:t>🎨</a:t>
            </a:r>
            <a:br>
              <a:rPr lang="ja" sz="1380">
                <a:solidFill>
                  <a:srgbClr val="434343"/>
                </a:solidFill>
              </a:rPr>
            </a:br>
            <a:endParaRPr sz="580">
              <a:solidFill>
                <a:srgbClr val="434343"/>
              </a:solidFill>
            </a:endParaRPr>
          </a:p>
          <a:p>
            <a:pPr indent="0" lvl="0" marL="0" rtl="0" algn="ctr">
              <a:spcBef>
                <a:spcPts val="0"/>
              </a:spcBef>
              <a:spcAft>
                <a:spcPts val="0"/>
              </a:spcAft>
              <a:buSzPts val="990"/>
              <a:buNone/>
            </a:pPr>
            <a:r>
              <a:rPr b="1" lang="ja" sz="3080">
                <a:solidFill>
                  <a:srgbClr val="000000"/>
                </a:solidFill>
              </a:rPr>
              <a:t>Pitch Cart</a:t>
            </a:r>
            <a:endParaRPr b="1" sz="3080">
              <a:solidFill>
                <a:srgbClr val="000000"/>
              </a:solidFill>
            </a:endParaRPr>
          </a:p>
          <a:p>
            <a:pPr indent="0" lvl="0" marL="0" rtl="0" algn="ctr">
              <a:spcBef>
                <a:spcPts val="0"/>
              </a:spcBef>
              <a:spcAft>
                <a:spcPts val="0"/>
              </a:spcAft>
              <a:buSzPts val="990"/>
              <a:buNone/>
            </a:pPr>
            <a:br>
              <a:rPr lang="ja" sz="1180">
                <a:solidFill>
                  <a:srgbClr val="434343"/>
                </a:solidFill>
              </a:rPr>
            </a:br>
            <a:br>
              <a:rPr lang="ja" sz="1180">
                <a:solidFill>
                  <a:srgbClr val="434343"/>
                </a:solidFill>
              </a:rPr>
            </a:br>
            <a:r>
              <a:rPr lang="ja" sz="1380">
                <a:solidFill>
                  <a:srgbClr val="434343"/>
                </a:solidFill>
              </a:rPr>
              <a:t>ステークホルダーに </a:t>
            </a:r>
            <a:r>
              <a:rPr b="1" lang="ja" sz="1380">
                <a:solidFill>
                  <a:srgbClr val="434343"/>
                </a:solidFill>
              </a:rPr>
              <a:t>あなたの思いが的確に伝わる</a:t>
            </a:r>
            <a:endParaRPr sz="1380">
              <a:solidFill>
                <a:srgbClr val="434343"/>
              </a:solidFill>
            </a:endParaRPr>
          </a:p>
        </p:txBody>
      </p:sp>
      <p:sp>
        <p:nvSpPr>
          <p:cNvPr id="55" name="Google Shape;55;p13"/>
          <p:cNvSpPr txBox="1"/>
          <p:nvPr>
            <p:ph type="ctrTitle"/>
          </p:nvPr>
        </p:nvSpPr>
        <p:spPr>
          <a:xfrm>
            <a:off x="5589950" y="3946475"/>
            <a:ext cx="2549400" cy="445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ja" sz="1180">
                <a:solidFill>
                  <a:srgbClr val="666666"/>
                </a:solidFill>
              </a:rPr>
              <a:t>東京 DEV25期 渡邊里奈 小菅達矢</a:t>
            </a:r>
            <a:endParaRPr sz="1180">
              <a:solidFill>
                <a:srgbClr val="66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a:t>
            </a:r>
            <a:r>
              <a:rPr lang="ja" sz="1180">
                <a:solidFill>
                  <a:srgbClr val="434343"/>
                </a:solidFill>
              </a:rPr>
              <a:t>genda</a:t>
            </a:r>
            <a:endParaRPr sz="1180">
              <a:solidFill>
                <a:srgbClr val="434343"/>
              </a:solidFill>
            </a:endParaRPr>
          </a:p>
        </p:txBody>
      </p:sp>
      <p:cxnSp>
        <p:nvCxnSpPr>
          <p:cNvPr id="61" name="Google Shape;61;p14"/>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62" name="Google Shape;62;p14"/>
          <p:cNvSpPr txBox="1"/>
          <p:nvPr>
            <p:ph type="ctrTitle"/>
          </p:nvPr>
        </p:nvSpPr>
        <p:spPr>
          <a:xfrm>
            <a:off x="3270750" y="1705700"/>
            <a:ext cx="2979000" cy="130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380">
                <a:solidFill>
                  <a:srgbClr val="434343"/>
                </a:solidFill>
              </a:rPr>
              <a:t>１.</a:t>
            </a:r>
            <a:r>
              <a:rPr lang="ja" sz="1380">
                <a:solidFill>
                  <a:srgbClr val="434343"/>
                </a:solidFill>
              </a:rPr>
              <a:t>　プロダクト概要</a:t>
            </a:r>
            <a:endParaRPr sz="1380">
              <a:solidFill>
                <a:srgbClr val="434343"/>
              </a:solidFill>
            </a:endParaRPr>
          </a:p>
          <a:p>
            <a:pPr indent="0" lvl="0" marL="0" rtl="0" algn="l">
              <a:spcBef>
                <a:spcPts val="0"/>
              </a:spcBef>
              <a:spcAft>
                <a:spcPts val="0"/>
              </a:spcAft>
              <a:buSzPts val="990"/>
              <a:buNone/>
            </a:pPr>
            <a:r>
              <a:rPr lang="ja" sz="1380">
                <a:solidFill>
                  <a:srgbClr val="434343"/>
                </a:solidFill>
              </a:rPr>
              <a:t>２.　</a:t>
            </a:r>
            <a:r>
              <a:rPr lang="ja" sz="1380">
                <a:solidFill>
                  <a:srgbClr val="434343"/>
                </a:solidFill>
              </a:rPr>
              <a:t>コア機能</a:t>
            </a:r>
            <a:endParaRPr sz="1380">
              <a:solidFill>
                <a:srgbClr val="434343"/>
              </a:solidFill>
            </a:endParaRPr>
          </a:p>
          <a:p>
            <a:pPr indent="0" lvl="0" marL="0" rtl="0" algn="l">
              <a:spcBef>
                <a:spcPts val="0"/>
              </a:spcBef>
              <a:spcAft>
                <a:spcPts val="0"/>
              </a:spcAft>
              <a:buSzPts val="990"/>
              <a:buNone/>
            </a:pPr>
            <a:r>
              <a:rPr lang="ja" sz="1380">
                <a:solidFill>
                  <a:srgbClr val="434343"/>
                </a:solidFill>
              </a:rPr>
              <a:t>３.　</a:t>
            </a:r>
            <a:r>
              <a:rPr lang="ja" sz="1380">
                <a:solidFill>
                  <a:srgbClr val="434343"/>
                </a:solidFill>
              </a:rPr>
              <a:t>仕様書</a:t>
            </a:r>
            <a:endParaRPr sz="1380">
              <a:solidFill>
                <a:srgbClr val="434343"/>
              </a:solidFill>
            </a:endParaRPr>
          </a:p>
          <a:p>
            <a:pPr indent="0" lvl="0" marL="0" rtl="0" algn="l">
              <a:spcBef>
                <a:spcPts val="0"/>
              </a:spcBef>
              <a:spcAft>
                <a:spcPts val="0"/>
              </a:spcAft>
              <a:buClr>
                <a:schemeClr val="dk1"/>
              </a:buClr>
              <a:buSzPts val="990"/>
              <a:buFont typeface="Arial"/>
              <a:buNone/>
            </a:pPr>
            <a:r>
              <a:rPr lang="ja" sz="1380">
                <a:solidFill>
                  <a:srgbClr val="434343"/>
                </a:solidFill>
              </a:rPr>
              <a:t>４.　技術仕様・チーム役割分担</a:t>
            </a:r>
            <a:endParaRPr sz="1380">
              <a:solidFill>
                <a:srgbClr val="4343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519350" y="627800"/>
            <a:ext cx="4006500" cy="10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オーディエンスの反応を予測するプレゼンツール</a:t>
            </a:r>
            <a:r>
              <a:rPr lang="ja" sz="1480">
                <a:solidFill>
                  <a:srgbClr val="434343"/>
                </a:solidFill>
              </a:rPr>
              <a:t>🎨</a:t>
            </a:r>
            <a:br>
              <a:rPr lang="ja" sz="1380">
                <a:solidFill>
                  <a:srgbClr val="434343"/>
                </a:solidFill>
              </a:rPr>
            </a:br>
            <a:endParaRPr sz="580">
              <a:solidFill>
                <a:srgbClr val="434343"/>
              </a:solidFill>
            </a:endParaRPr>
          </a:p>
          <a:p>
            <a:pPr indent="0" lvl="0" marL="0" rtl="0" algn="l">
              <a:spcBef>
                <a:spcPts val="0"/>
              </a:spcBef>
              <a:spcAft>
                <a:spcPts val="0"/>
              </a:spcAft>
              <a:buSzPts val="990"/>
              <a:buNone/>
            </a:pPr>
            <a:r>
              <a:rPr b="1" lang="ja" sz="3080">
                <a:solidFill>
                  <a:srgbClr val="000000"/>
                </a:solidFill>
              </a:rPr>
              <a:t>Pitch Cart</a:t>
            </a:r>
            <a:endParaRPr sz="1380">
              <a:solidFill>
                <a:srgbClr val="434343"/>
              </a:solidFill>
            </a:endParaRPr>
          </a:p>
        </p:txBody>
      </p:sp>
      <p:sp>
        <p:nvSpPr>
          <p:cNvPr id="68" name="Google Shape;68;p15"/>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プロダクト概要</a:t>
            </a:r>
            <a:endParaRPr sz="1180">
              <a:solidFill>
                <a:srgbClr val="434343"/>
              </a:solidFill>
            </a:endParaRPr>
          </a:p>
        </p:txBody>
      </p:sp>
      <p:cxnSp>
        <p:nvCxnSpPr>
          <p:cNvPr id="69" name="Google Shape;69;p15"/>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70" name="Google Shape;70;p15"/>
          <p:cNvSpPr txBox="1"/>
          <p:nvPr>
            <p:ph type="ctrTitle"/>
          </p:nvPr>
        </p:nvSpPr>
        <p:spPr>
          <a:xfrm>
            <a:off x="610625" y="3269100"/>
            <a:ext cx="7292700" cy="25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t>
            </a:r>
            <a:r>
              <a:rPr lang="ja" sz="1180">
                <a:solidFill>
                  <a:srgbClr val="434343"/>
                </a:solidFill>
              </a:rPr>
              <a:t>ユーザーが作成したスライドに対して予測されるオーディエンスからの反応が返ってくる</a:t>
            </a:r>
            <a:endParaRPr sz="1180">
              <a:solidFill>
                <a:srgbClr val="434343"/>
              </a:solidFill>
            </a:endParaRPr>
          </a:p>
        </p:txBody>
      </p:sp>
      <p:sp>
        <p:nvSpPr>
          <p:cNvPr id="71" name="Google Shape;71;p15"/>
          <p:cNvSpPr txBox="1"/>
          <p:nvPr>
            <p:ph type="ctrTitle"/>
          </p:nvPr>
        </p:nvSpPr>
        <p:spPr>
          <a:xfrm>
            <a:off x="610625" y="3012000"/>
            <a:ext cx="4101000" cy="25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t>
            </a:r>
            <a:r>
              <a:rPr lang="ja" sz="1180">
                <a:solidFill>
                  <a:srgbClr val="434343"/>
                </a:solidFill>
              </a:rPr>
              <a:t>スライドを</a:t>
            </a:r>
            <a:r>
              <a:rPr lang="ja" sz="1180">
                <a:solidFill>
                  <a:srgbClr val="434343"/>
                </a:solidFill>
              </a:rPr>
              <a:t>作成できる</a:t>
            </a:r>
            <a:endParaRPr sz="1180">
              <a:solidFill>
                <a:srgbClr val="434343"/>
              </a:solidFill>
            </a:endParaRPr>
          </a:p>
        </p:txBody>
      </p:sp>
      <p:sp>
        <p:nvSpPr>
          <p:cNvPr id="72" name="Google Shape;72;p15"/>
          <p:cNvSpPr/>
          <p:nvPr/>
        </p:nvSpPr>
        <p:spPr>
          <a:xfrm>
            <a:off x="586175" y="2671800"/>
            <a:ext cx="1397700" cy="257100"/>
          </a:xfrm>
          <a:prstGeom prst="roundRect">
            <a:avLst>
              <a:gd fmla="val 7835" name="adj"/>
            </a:avLst>
          </a:prstGeom>
          <a:solidFill>
            <a:srgbClr val="C2D0EA">
              <a:alpha val="5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プロダクトの機能</a:t>
            </a:r>
            <a:endParaRPr sz="1100"/>
          </a:p>
        </p:txBody>
      </p:sp>
      <p:sp>
        <p:nvSpPr>
          <p:cNvPr id="73" name="Google Shape;73;p15"/>
          <p:cNvSpPr/>
          <p:nvPr/>
        </p:nvSpPr>
        <p:spPr>
          <a:xfrm>
            <a:off x="586175" y="3785200"/>
            <a:ext cx="1397700" cy="257100"/>
          </a:xfrm>
          <a:prstGeom prst="roundRect">
            <a:avLst>
              <a:gd fmla="val 7835" name="adj"/>
            </a:avLst>
          </a:prstGeom>
          <a:solidFill>
            <a:srgbClr val="C2D0EA">
              <a:alpha val="5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Why me?</a:t>
            </a:r>
            <a:endParaRPr sz="1100"/>
          </a:p>
        </p:txBody>
      </p:sp>
      <p:sp>
        <p:nvSpPr>
          <p:cNvPr id="74" name="Google Shape;74;p15"/>
          <p:cNvSpPr txBox="1"/>
          <p:nvPr>
            <p:ph type="ctrTitle"/>
          </p:nvPr>
        </p:nvSpPr>
        <p:spPr>
          <a:xfrm>
            <a:off x="610625" y="4089100"/>
            <a:ext cx="8006400" cy="73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t>
            </a:r>
            <a:r>
              <a:rPr lang="ja" sz="1180">
                <a:solidFill>
                  <a:srgbClr val="434343"/>
                </a:solidFill>
              </a:rPr>
              <a:t>ピッチで自分の思いを正確に伝えきれずに悔しい思いをしている人をたくさん見て</a:t>
            </a:r>
            <a:endParaRPr sz="1180">
              <a:solidFill>
                <a:srgbClr val="434343"/>
              </a:solidFill>
            </a:endParaRPr>
          </a:p>
          <a:p>
            <a:pPr indent="0" lvl="0" marL="0" rtl="0" algn="l">
              <a:spcBef>
                <a:spcPts val="0"/>
              </a:spcBef>
              <a:spcAft>
                <a:spcPts val="0"/>
              </a:spcAft>
              <a:buSzPts val="990"/>
              <a:buNone/>
            </a:pPr>
            <a:r>
              <a:rPr b="1" lang="ja" sz="1180">
                <a:solidFill>
                  <a:srgbClr val="434343"/>
                </a:solidFill>
              </a:rPr>
              <a:t>　「こんなに良い事業企画で、デザインも悪くない、なのになぜそれが伝わっていないの？何とかしたい！」</a:t>
            </a:r>
            <a:endParaRPr b="1" sz="1180">
              <a:solidFill>
                <a:srgbClr val="434343"/>
              </a:solidFill>
            </a:endParaRPr>
          </a:p>
          <a:p>
            <a:pPr indent="0" lvl="0" marL="0" rtl="0" algn="l">
              <a:spcBef>
                <a:spcPts val="0"/>
              </a:spcBef>
              <a:spcAft>
                <a:spcPts val="0"/>
              </a:spcAft>
              <a:buSzPts val="990"/>
              <a:buNone/>
            </a:pPr>
            <a:r>
              <a:rPr lang="ja" sz="1180">
                <a:solidFill>
                  <a:srgbClr val="434343"/>
                </a:solidFill>
              </a:rPr>
              <a:t>　と感じたことが本プロダクト制作の原体験となっています</a:t>
            </a:r>
            <a:endParaRPr sz="1180">
              <a:solidFill>
                <a:srgbClr val="434343"/>
              </a:solidFill>
            </a:endParaRPr>
          </a:p>
        </p:txBody>
      </p:sp>
      <p:sp>
        <p:nvSpPr>
          <p:cNvPr id="75" name="Google Shape;75;p15"/>
          <p:cNvSpPr txBox="1"/>
          <p:nvPr>
            <p:ph type="ctrTitle"/>
          </p:nvPr>
        </p:nvSpPr>
        <p:spPr>
          <a:xfrm>
            <a:off x="519350" y="1521625"/>
            <a:ext cx="8553600" cy="91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ピッチやプレゼンをする目的、それは「人を動かす」</a:t>
            </a:r>
            <a:r>
              <a:rPr lang="ja" sz="1180">
                <a:solidFill>
                  <a:srgbClr val="434343"/>
                </a:solidFill>
              </a:rPr>
              <a:t>ことだと考えます</a:t>
            </a:r>
            <a:endParaRPr sz="1180">
              <a:solidFill>
                <a:srgbClr val="434343"/>
              </a:solidFill>
            </a:endParaRPr>
          </a:p>
          <a:p>
            <a:pPr indent="0" lvl="0" marL="0" rtl="0" algn="l">
              <a:spcBef>
                <a:spcPts val="0"/>
              </a:spcBef>
              <a:spcAft>
                <a:spcPts val="0"/>
              </a:spcAft>
              <a:buSzPts val="990"/>
              <a:buNone/>
            </a:pPr>
            <a:r>
              <a:rPr lang="ja" sz="1180">
                <a:solidFill>
                  <a:srgbClr val="434343"/>
                </a:solidFill>
              </a:rPr>
              <a:t>私たちは、オーディエンスの反応を予測するプレゼンツールを提供することで、相手に合わせたプレゼン作成を支援します</a:t>
            </a:r>
            <a:r>
              <a:rPr b="1" lang="ja" sz="1180">
                <a:solidFill>
                  <a:srgbClr val="434343"/>
                </a:solidFill>
              </a:rPr>
              <a:t>事業やサービスを立ち上げたい人</a:t>
            </a:r>
            <a:r>
              <a:rPr lang="ja" sz="1180">
                <a:solidFill>
                  <a:srgbClr val="434343"/>
                </a:solidFill>
              </a:rPr>
              <a:t>が、</a:t>
            </a:r>
            <a:r>
              <a:rPr b="1" lang="ja" sz="1180">
                <a:solidFill>
                  <a:srgbClr val="434343"/>
                </a:solidFill>
              </a:rPr>
              <a:t>周囲を巻き込みやすくなる世界</a:t>
            </a:r>
            <a:r>
              <a:rPr lang="ja" sz="1180">
                <a:solidFill>
                  <a:srgbClr val="434343"/>
                </a:solidFill>
              </a:rPr>
              <a:t>を実現</a:t>
            </a:r>
            <a:r>
              <a:rPr lang="ja" sz="1180">
                <a:solidFill>
                  <a:srgbClr val="434343"/>
                </a:solidFill>
              </a:rPr>
              <a:t>します</a:t>
            </a:r>
            <a:endParaRPr sz="1180">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rotWithShape="1">
          <a:blip r:embed="rId3">
            <a:alphaModFix/>
          </a:blip>
          <a:srcRect b="6908" l="0" r="0" t="16749"/>
          <a:stretch/>
        </p:blipFill>
        <p:spPr>
          <a:xfrm>
            <a:off x="566150" y="1344075"/>
            <a:ext cx="7499628" cy="3578525"/>
          </a:xfrm>
          <a:prstGeom prst="rect">
            <a:avLst/>
          </a:prstGeom>
          <a:noFill/>
          <a:ln>
            <a:noFill/>
          </a:ln>
        </p:spPr>
      </p:pic>
      <p:sp>
        <p:nvSpPr>
          <p:cNvPr id="81" name="Google Shape;81;p16"/>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コア機能</a:t>
            </a:r>
            <a:endParaRPr sz="1180">
              <a:solidFill>
                <a:srgbClr val="434343"/>
              </a:solidFill>
            </a:endParaRPr>
          </a:p>
        </p:txBody>
      </p:sp>
      <p:cxnSp>
        <p:nvCxnSpPr>
          <p:cNvPr id="82" name="Google Shape;82;p16"/>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83" name="Google Shape;8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84" name="Google Shape;84;p16"/>
          <p:cNvSpPr txBox="1"/>
          <p:nvPr>
            <p:ph type="ctrTitle"/>
          </p:nvPr>
        </p:nvSpPr>
        <p:spPr>
          <a:xfrm>
            <a:off x="452775" y="748750"/>
            <a:ext cx="8202000" cy="25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180">
                <a:solidFill>
                  <a:srgbClr val="434343"/>
                </a:solidFill>
              </a:rPr>
              <a:t>ユーザーが作成したスライドに対して予測されるオーディエンスからの反応が返ってくる</a:t>
            </a:r>
            <a:endParaRPr b="1" sz="1180">
              <a:solidFill>
                <a:srgbClr val="434343"/>
              </a:solidFill>
            </a:endParaRPr>
          </a:p>
        </p:txBody>
      </p:sp>
      <p:sp>
        <p:nvSpPr>
          <p:cNvPr id="85" name="Google Shape;85;p16"/>
          <p:cNvSpPr txBox="1"/>
          <p:nvPr>
            <p:ph type="ctrTitle"/>
          </p:nvPr>
        </p:nvSpPr>
        <p:spPr>
          <a:xfrm>
            <a:off x="452775" y="1005850"/>
            <a:ext cx="8202000" cy="25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180">
                <a:solidFill>
                  <a:srgbClr val="434343"/>
                </a:solidFill>
              </a:rPr>
              <a:t>PythonとLaravel</a:t>
            </a:r>
            <a:r>
              <a:rPr lang="ja" sz="1180">
                <a:solidFill>
                  <a:srgbClr val="434343"/>
                </a:solidFill>
              </a:rPr>
              <a:t>を使用し</a:t>
            </a:r>
            <a:r>
              <a:rPr b="1" lang="ja" sz="1180">
                <a:solidFill>
                  <a:srgbClr val="434343"/>
                </a:solidFill>
              </a:rPr>
              <a:t>webアプリ</a:t>
            </a:r>
            <a:r>
              <a:rPr lang="ja" sz="1180">
                <a:solidFill>
                  <a:srgbClr val="434343"/>
                </a:solidFill>
              </a:rPr>
              <a:t>を作成</a:t>
            </a:r>
            <a:endParaRPr sz="1180">
              <a:solidFill>
                <a:srgbClr val="434343"/>
              </a:solidFill>
            </a:endParaRPr>
          </a:p>
        </p:txBody>
      </p:sp>
      <p:sp>
        <p:nvSpPr>
          <p:cNvPr id="86" name="Google Shape;86;p16"/>
          <p:cNvSpPr/>
          <p:nvPr/>
        </p:nvSpPr>
        <p:spPr>
          <a:xfrm>
            <a:off x="6729375" y="1704675"/>
            <a:ext cx="1397700" cy="2118000"/>
          </a:xfrm>
          <a:prstGeom prst="roundRect">
            <a:avLst>
              <a:gd fmla="val 3783" name="adj"/>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highlight>
                <a:schemeClr val="lt1"/>
              </a:highlight>
            </a:endParaRPr>
          </a:p>
        </p:txBody>
      </p:sp>
      <p:sp>
        <p:nvSpPr>
          <p:cNvPr id="87" name="Google Shape;87;p16"/>
          <p:cNvSpPr txBox="1"/>
          <p:nvPr>
            <p:ph type="ctrTitle"/>
          </p:nvPr>
        </p:nvSpPr>
        <p:spPr>
          <a:xfrm>
            <a:off x="7581075" y="3963750"/>
            <a:ext cx="850800" cy="25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180">
                <a:solidFill>
                  <a:srgbClr val="434343"/>
                </a:solidFill>
              </a:rPr>
              <a:t>コア機能</a:t>
            </a:r>
            <a:endParaRPr b="1" sz="1180">
              <a:solidFill>
                <a:srgbClr val="434343"/>
              </a:solidFill>
            </a:endParaRPr>
          </a:p>
        </p:txBody>
      </p:sp>
      <p:cxnSp>
        <p:nvCxnSpPr>
          <p:cNvPr id="88" name="Google Shape;88;p16"/>
          <p:cNvCxnSpPr>
            <a:stCxn id="86" idx="2"/>
            <a:endCxn id="87" idx="1"/>
          </p:cNvCxnSpPr>
          <p:nvPr/>
        </p:nvCxnSpPr>
        <p:spPr>
          <a:xfrm flipH="1" rot="-5400000">
            <a:off x="7369875" y="3881025"/>
            <a:ext cx="269700" cy="153000"/>
          </a:xfrm>
          <a:prstGeom prst="bentConnector2">
            <a:avLst/>
          </a:prstGeom>
          <a:noFill/>
          <a:ln cap="flat" cmpd="sng" w="9525">
            <a:solidFill>
              <a:srgbClr val="4A86E8"/>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 – ログイン・新規登録</a:t>
            </a:r>
            <a:endParaRPr sz="1180">
              <a:solidFill>
                <a:srgbClr val="434343"/>
              </a:solidFill>
            </a:endParaRPr>
          </a:p>
        </p:txBody>
      </p:sp>
      <p:cxnSp>
        <p:nvCxnSpPr>
          <p:cNvPr id="94" name="Google Shape;94;p17"/>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95" name="Google Shape;9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96" name="Google Shape;96;p17"/>
          <p:cNvPicPr preferRelativeResize="0"/>
          <p:nvPr/>
        </p:nvPicPr>
        <p:blipFill rotWithShape="1">
          <a:blip r:embed="rId3">
            <a:alphaModFix/>
          </a:blip>
          <a:srcRect b="0" l="18979" r="18485" t="0"/>
          <a:stretch/>
        </p:blipFill>
        <p:spPr>
          <a:xfrm>
            <a:off x="579902" y="603850"/>
            <a:ext cx="3625600" cy="2904601"/>
          </a:xfrm>
          <a:prstGeom prst="rect">
            <a:avLst/>
          </a:prstGeom>
          <a:noFill/>
          <a:ln>
            <a:noFill/>
          </a:ln>
        </p:spPr>
      </p:pic>
      <p:pic>
        <p:nvPicPr>
          <p:cNvPr id="97" name="Google Shape;97;p17"/>
          <p:cNvPicPr preferRelativeResize="0"/>
          <p:nvPr/>
        </p:nvPicPr>
        <p:blipFill>
          <a:blip r:embed="rId4">
            <a:alphaModFix/>
          </a:blip>
          <a:stretch>
            <a:fillRect/>
          </a:stretch>
        </p:blipFill>
        <p:spPr>
          <a:xfrm>
            <a:off x="4530777" y="603838"/>
            <a:ext cx="3739376" cy="2904618"/>
          </a:xfrm>
          <a:prstGeom prst="rect">
            <a:avLst/>
          </a:prstGeom>
          <a:noFill/>
          <a:ln>
            <a:noFill/>
          </a:ln>
        </p:spPr>
      </p:pic>
      <p:sp>
        <p:nvSpPr>
          <p:cNvPr id="98" name="Google Shape;98;p17"/>
          <p:cNvSpPr txBox="1"/>
          <p:nvPr/>
        </p:nvSpPr>
        <p:spPr>
          <a:xfrm>
            <a:off x="475350" y="4043550"/>
            <a:ext cx="8193300" cy="8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すでに登録済の場合は、登録済のユーザー情報を使ってログインします。</a:t>
            </a:r>
            <a:endParaRPr/>
          </a:p>
          <a:p>
            <a:pPr indent="0" lvl="0" marL="0" rtl="0" algn="l">
              <a:spcBef>
                <a:spcPts val="0"/>
              </a:spcBef>
              <a:spcAft>
                <a:spcPts val="0"/>
              </a:spcAft>
              <a:buClr>
                <a:schemeClr val="dk1"/>
              </a:buClr>
              <a:buSzPts val="1100"/>
              <a:buFont typeface="Arial"/>
              <a:buNone/>
            </a:pPr>
            <a:r>
              <a:rPr lang="ja">
                <a:solidFill>
                  <a:schemeClr val="dk1"/>
                </a:solidFill>
              </a:rPr>
              <a:t>未登録の場合は、</a:t>
            </a:r>
            <a:r>
              <a:rPr lang="ja">
                <a:solidFill>
                  <a:schemeClr val="dk1"/>
                </a:solidFill>
              </a:rPr>
              <a:t>ユーザー新規登録をします。</a:t>
            </a:r>
            <a:endParaRPr/>
          </a:p>
          <a:p>
            <a:pPr indent="0" lvl="0" marL="0" rtl="0" algn="l">
              <a:spcBef>
                <a:spcPts val="0"/>
              </a:spcBef>
              <a:spcAft>
                <a:spcPts val="0"/>
              </a:spcAft>
              <a:buNone/>
            </a:pPr>
            <a:r>
              <a:rPr lang="ja"/>
              <a:t>ログインや新規登録については一般的なフォームと仕様は変わりありません。</a:t>
            </a:r>
            <a:endParaRPr/>
          </a:p>
        </p:txBody>
      </p:sp>
      <p:sp>
        <p:nvSpPr>
          <p:cNvPr id="99" name="Google Shape;99;p17"/>
          <p:cNvSpPr txBox="1"/>
          <p:nvPr/>
        </p:nvSpPr>
        <p:spPr>
          <a:xfrm>
            <a:off x="1491805" y="3604375"/>
            <a:ext cx="1801800" cy="34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ログインページ</a:t>
            </a:r>
            <a:endParaRPr b="1"/>
          </a:p>
        </p:txBody>
      </p:sp>
      <p:sp>
        <p:nvSpPr>
          <p:cNvPr id="100" name="Google Shape;100;p17"/>
          <p:cNvSpPr txBox="1"/>
          <p:nvPr/>
        </p:nvSpPr>
        <p:spPr>
          <a:xfrm>
            <a:off x="5659314" y="3604388"/>
            <a:ext cx="1482300" cy="34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t>新規登録ページ</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a:t>
            </a:r>
            <a:r>
              <a:rPr lang="ja" sz="1180">
                <a:solidFill>
                  <a:srgbClr val="434343"/>
                </a:solidFill>
              </a:rPr>
              <a:t> – スライド一覧</a:t>
            </a:r>
            <a:endParaRPr sz="1180">
              <a:solidFill>
                <a:srgbClr val="434343"/>
              </a:solidFill>
            </a:endParaRPr>
          </a:p>
        </p:txBody>
      </p:sp>
      <p:cxnSp>
        <p:nvCxnSpPr>
          <p:cNvPr id="106" name="Google Shape;106;p18"/>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07" name="Google Shape;10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08" name="Google Shape;108;p18"/>
          <p:cNvPicPr preferRelativeResize="0"/>
          <p:nvPr/>
        </p:nvPicPr>
        <p:blipFill>
          <a:blip r:embed="rId3">
            <a:alphaModFix/>
          </a:blip>
          <a:stretch>
            <a:fillRect/>
          </a:stretch>
        </p:blipFill>
        <p:spPr>
          <a:xfrm>
            <a:off x="260700" y="603529"/>
            <a:ext cx="6062899" cy="3004801"/>
          </a:xfrm>
          <a:prstGeom prst="rect">
            <a:avLst/>
          </a:prstGeom>
          <a:noFill/>
          <a:ln>
            <a:noFill/>
          </a:ln>
        </p:spPr>
      </p:pic>
      <p:sp>
        <p:nvSpPr>
          <p:cNvPr id="109" name="Google Shape;109;p18"/>
          <p:cNvSpPr txBox="1"/>
          <p:nvPr/>
        </p:nvSpPr>
        <p:spPr>
          <a:xfrm>
            <a:off x="260705" y="3709063"/>
            <a:ext cx="1801800" cy="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a:t>スライド一覧ページ</a:t>
            </a:r>
            <a:endParaRPr b="1"/>
          </a:p>
        </p:txBody>
      </p:sp>
      <p:sp>
        <p:nvSpPr>
          <p:cNvPr id="110" name="Google Shape;110;p18"/>
          <p:cNvSpPr txBox="1"/>
          <p:nvPr/>
        </p:nvSpPr>
        <p:spPr>
          <a:xfrm>
            <a:off x="260700" y="4101475"/>
            <a:ext cx="8193300" cy="7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既に作成済のスライドについては画面のメイン部分に一覧が表示されます。</a:t>
            </a:r>
            <a:endParaRPr/>
          </a:p>
          <a:p>
            <a:pPr indent="0" lvl="0" marL="0" rtl="0" algn="l">
              <a:spcBef>
                <a:spcPts val="0"/>
              </a:spcBef>
              <a:spcAft>
                <a:spcPts val="0"/>
              </a:spcAft>
              <a:buNone/>
            </a:pPr>
            <a:r>
              <a:rPr lang="ja"/>
              <a:t>左サイドバーにある「新規スライド作成」からスライドを新規作成することができます。</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a:t>
            </a:r>
            <a:r>
              <a:rPr lang="ja" sz="1180">
                <a:solidFill>
                  <a:srgbClr val="434343"/>
                </a:solidFill>
              </a:rPr>
              <a:t> – スライド作成編集</a:t>
            </a:r>
            <a:endParaRPr sz="1180">
              <a:solidFill>
                <a:srgbClr val="434343"/>
              </a:solidFill>
            </a:endParaRPr>
          </a:p>
        </p:txBody>
      </p:sp>
      <p:cxnSp>
        <p:nvCxnSpPr>
          <p:cNvPr id="116" name="Google Shape;116;p19"/>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17" name="Google Shape;11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18" name="Google Shape;118;p19"/>
          <p:cNvSpPr/>
          <p:nvPr/>
        </p:nvSpPr>
        <p:spPr>
          <a:xfrm>
            <a:off x="1045900" y="870575"/>
            <a:ext cx="245700" cy="14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19"/>
          <p:cNvPicPr preferRelativeResize="0"/>
          <p:nvPr/>
        </p:nvPicPr>
        <p:blipFill>
          <a:blip r:embed="rId3">
            <a:alphaModFix/>
          </a:blip>
          <a:stretch>
            <a:fillRect/>
          </a:stretch>
        </p:blipFill>
        <p:spPr>
          <a:xfrm>
            <a:off x="272100" y="642275"/>
            <a:ext cx="8108739" cy="3824727"/>
          </a:xfrm>
          <a:prstGeom prst="rect">
            <a:avLst/>
          </a:prstGeom>
          <a:noFill/>
          <a:ln>
            <a:noFill/>
          </a:ln>
        </p:spPr>
      </p:pic>
      <p:sp>
        <p:nvSpPr>
          <p:cNvPr id="120" name="Google Shape;120;p19"/>
          <p:cNvSpPr/>
          <p:nvPr/>
        </p:nvSpPr>
        <p:spPr>
          <a:xfrm>
            <a:off x="2120725" y="1206700"/>
            <a:ext cx="476400" cy="14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9"/>
          <p:cNvSpPr txBox="1"/>
          <p:nvPr/>
        </p:nvSpPr>
        <p:spPr>
          <a:xfrm>
            <a:off x="420251" y="4585175"/>
            <a:ext cx="3768900" cy="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a:t>スライド</a:t>
            </a:r>
            <a:r>
              <a:rPr b="1" lang="ja"/>
              <a:t>ページ</a:t>
            </a:r>
            <a:r>
              <a:rPr b="1" lang="ja"/>
              <a:t>（スライド作成編集機能）</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a:t>
            </a:r>
            <a:r>
              <a:rPr lang="ja" sz="1180">
                <a:solidFill>
                  <a:srgbClr val="434343"/>
                </a:solidFill>
              </a:rPr>
              <a:t> – スライド作成編集</a:t>
            </a:r>
            <a:endParaRPr sz="1180">
              <a:solidFill>
                <a:srgbClr val="434343"/>
              </a:solidFill>
            </a:endParaRPr>
          </a:p>
        </p:txBody>
      </p:sp>
      <p:cxnSp>
        <p:nvCxnSpPr>
          <p:cNvPr id="127" name="Google Shape;127;p20"/>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28" name="Google Shape;12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29" name="Google Shape;129;p20"/>
          <p:cNvPicPr preferRelativeResize="0"/>
          <p:nvPr/>
        </p:nvPicPr>
        <p:blipFill>
          <a:blip r:embed="rId3">
            <a:alphaModFix/>
          </a:blip>
          <a:stretch>
            <a:fillRect/>
          </a:stretch>
        </p:blipFill>
        <p:spPr>
          <a:xfrm>
            <a:off x="260700" y="618088"/>
            <a:ext cx="8190572" cy="3907319"/>
          </a:xfrm>
          <a:prstGeom prst="rect">
            <a:avLst/>
          </a:prstGeom>
          <a:noFill/>
          <a:ln>
            <a:noFill/>
          </a:ln>
        </p:spPr>
      </p:pic>
      <p:sp>
        <p:nvSpPr>
          <p:cNvPr id="130" name="Google Shape;130;p20"/>
          <p:cNvSpPr txBox="1"/>
          <p:nvPr/>
        </p:nvSpPr>
        <p:spPr>
          <a:xfrm>
            <a:off x="1565750" y="3727950"/>
            <a:ext cx="3965700" cy="5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solidFill>
                  <a:srgbClr val="FF0000"/>
                </a:solidFill>
              </a:rPr>
              <a:t>テキストボックス表示の状態です</a:t>
            </a:r>
            <a:endParaRPr b="1" sz="1800">
              <a:solidFill>
                <a:srgbClr val="FF0000"/>
              </a:solidFill>
            </a:endParaRPr>
          </a:p>
        </p:txBody>
      </p:sp>
      <p:sp>
        <p:nvSpPr>
          <p:cNvPr id="131" name="Google Shape;131;p20"/>
          <p:cNvSpPr txBox="1"/>
          <p:nvPr/>
        </p:nvSpPr>
        <p:spPr>
          <a:xfrm>
            <a:off x="420250" y="4585175"/>
            <a:ext cx="3720300" cy="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a:t>スライドページ（スライド</a:t>
            </a:r>
            <a:r>
              <a:rPr b="1" lang="ja"/>
              <a:t>作成</a:t>
            </a:r>
            <a:r>
              <a:rPr b="1" lang="ja"/>
              <a:t>編集</a:t>
            </a:r>
            <a:r>
              <a:rPr b="1" lang="ja"/>
              <a:t>機能</a:t>
            </a:r>
            <a:r>
              <a:rPr b="1" lang="ja"/>
              <a:t>）</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a:t>
            </a:r>
            <a:r>
              <a:rPr lang="ja" sz="1180">
                <a:solidFill>
                  <a:srgbClr val="434343"/>
                </a:solidFill>
              </a:rPr>
              <a:t> – オーディエンス機能</a:t>
            </a:r>
            <a:endParaRPr sz="1180">
              <a:solidFill>
                <a:srgbClr val="434343"/>
              </a:solidFill>
            </a:endParaRPr>
          </a:p>
        </p:txBody>
      </p:sp>
      <p:cxnSp>
        <p:nvCxnSpPr>
          <p:cNvPr id="137" name="Google Shape;137;p21"/>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38" name="Google Shape;13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39" name="Google Shape;139;p21"/>
          <p:cNvSpPr txBox="1"/>
          <p:nvPr/>
        </p:nvSpPr>
        <p:spPr>
          <a:xfrm>
            <a:off x="420251" y="4585175"/>
            <a:ext cx="4410000" cy="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a:t>スライドページ（</a:t>
            </a:r>
            <a:r>
              <a:rPr b="1" lang="ja"/>
              <a:t>オーディエンス機能</a:t>
            </a:r>
            <a:r>
              <a:rPr b="1" lang="ja"/>
              <a:t>）</a:t>
            </a:r>
            <a:endParaRPr b="1"/>
          </a:p>
        </p:txBody>
      </p:sp>
      <p:sp>
        <p:nvSpPr>
          <p:cNvPr id="140" name="Google Shape;140;p21"/>
          <p:cNvSpPr txBox="1"/>
          <p:nvPr/>
        </p:nvSpPr>
        <p:spPr>
          <a:xfrm>
            <a:off x="714375" y="1179275"/>
            <a:ext cx="653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41" name="Google Shape;141;p21"/>
          <p:cNvPicPr preferRelativeResize="0"/>
          <p:nvPr/>
        </p:nvPicPr>
        <p:blipFill>
          <a:blip r:embed="rId3">
            <a:alphaModFix/>
          </a:blip>
          <a:stretch>
            <a:fillRect/>
          </a:stretch>
        </p:blipFill>
        <p:spPr>
          <a:xfrm>
            <a:off x="260700" y="597950"/>
            <a:ext cx="8358093" cy="398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仕様書</a:t>
            </a:r>
            <a:r>
              <a:rPr lang="ja" sz="1180">
                <a:solidFill>
                  <a:srgbClr val="434343"/>
                </a:solidFill>
              </a:rPr>
              <a:t> – オーディエンス機能</a:t>
            </a:r>
            <a:endParaRPr sz="1180">
              <a:solidFill>
                <a:srgbClr val="434343"/>
              </a:solidFill>
            </a:endParaRPr>
          </a:p>
        </p:txBody>
      </p:sp>
      <p:cxnSp>
        <p:nvCxnSpPr>
          <p:cNvPr id="147" name="Google Shape;147;p22"/>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48" name="Google Shape;14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49" name="Google Shape;149;p22"/>
          <p:cNvSpPr txBox="1"/>
          <p:nvPr/>
        </p:nvSpPr>
        <p:spPr>
          <a:xfrm>
            <a:off x="420251" y="4585175"/>
            <a:ext cx="4410000" cy="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a:t>スライドページ（オーディエンス機能）</a:t>
            </a:r>
            <a:endParaRPr b="1"/>
          </a:p>
        </p:txBody>
      </p:sp>
      <p:pic>
        <p:nvPicPr>
          <p:cNvPr id="150" name="Google Shape;150;p22"/>
          <p:cNvPicPr preferRelativeResize="0"/>
          <p:nvPr/>
        </p:nvPicPr>
        <p:blipFill>
          <a:blip r:embed="rId3">
            <a:alphaModFix/>
          </a:blip>
          <a:stretch>
            <a:fillRect/>
          </a:stretch>
        </p:blipFill>
        <p:spPr>
          <a:xfrm>
            <a:off x="260700" y="603500"/>
            <a:ext cx="7961784" cy="3829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技術仕様・</a:t>
            </a:r>
            <a:r>
              <a:rPr lang="ja" sz="1180">
                <a:solidFill>
                  <a:srgbClr val="434343"/>
                </a:solidFill>
              </a:rPr>
              <a:t>チーム役割分担</a:t>
            </a:r>
            <a:endParaRPr sz="1180">
              <a:solidFill>
                <a:srgbClr val="434343"/>
              </a:solidFill>
            </a:endParaRPr>
          </a:p>
        </p:txBody>
      </p:sp>
      <p:cxnSp>
        <p:nvCxnSpPr>
          <p:cNvPr id="156" name="Google Shape;156;p23"/>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57" name="Google Shape;15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graphicFrame>
        <p:nvGraphicFramePr>
          <p:cNvPr id="158" name="Google Shape;158;p23"/>
          <p:cNvGraphicFramePr/>
          <p:nvPr/>
        </p:nvGraphicFramePr>
        <p:xfrm>
          <a:off x="440863" y="731475"/>
          <a:ext cx="3000000" cy="3000000"/>
        </p:xfrm>
        <a:graphic>
          <a:graphicData uri="http://schemas.openxmlformats.org/drawingml/2006/table">
            <a:tbl>
              <a:tblPr>
                <a:noFill/>
                <a:tableStyleId>{8F9FF7B5-878B-4730-80FE-80C368E4403F}</a:tableStyleId>
              </a:tblPr>
              <a:tblGrid>
                <a:gridCol w="2305775"/>
                <a:gridCol w="2363750"/>
                <a:gridCol w="3090875"/>
              </a:tblGrid>
              <a:tr h="1023125">
                <a:tc>
                  <a:txBody>
                    <a:bodyPr/>
                    <a:lstStyle/>
                    <a:p>
                      <a:pPr indent="0" lvl="0" marL="0" rtl="0" algn="l">
                        <a:spcBef>
                          <a:spcPts val="0"/>
                        </a:spcBef>
                        <a:spcAft>
                          <a:spcPts val="0"/>
                        </a:spcAft>
                        <a:buNone/>
                      </a:pPr>
                      <a:r>
                        <a:rPr lang="ja"/>
                        <a:t>フロントエンド</a:t>
                      </a:r>
                      <a:endParaRPr/>
                    </a:p>
                  </a:txBody>
                  <a:tcPr marT="91425" marB="91425" marR="91425" marL="91425"/>
                </a:tc>
                <a:tc>
                  <a:txBody>
                    <a:bodyPr/>
                    <a:lstStyle/>
                    <a:p>
                      <a:pPr indent="0" lvl="0" marL="0" rtl="0" algn="l">
                        <a:spcBef>
                          <a:spcPts val="0"/>
                        </a:spcBef>
                        <a:spcAft>
                          <a:spcPts val="0"/>
                        </a:spcAft>
                        <a:buNone/>
                      </a:pPr>
                      <a:r>
                        <a:rPr lang="ja">
                          <a:solidFill>
                            <a:srgbClr val="434343"/>
                          </a:solidFill>
                        </a:rPr>
                        <a:t>スライド一覧</a:t>
                      </a:r>
                      <a:br>
                        <a:rPr lang="ja">
                          <a:solidFill>
                            <a:srgbClr val="434343"/>
                          </a:solidFill>
                        </a:rPr>
                      </a:br>
                      <a:r>
                        <a:rPr lang="ja">
                          <a:solidFill>
                            <a:srgbClr val="434343"/>
                          </a:solidFill>
                        </a:rPr>
                        <a:t>スライド作成編集</a:t>
                      </a:r>
                      <a:endParaRPr>
                        <a:solidFill>
                          <a:srgbClr val="434343"/>
                        </a:solidFill>
                      </a:endParaRPr>
                    </a:p>
                  </a:txBody>
                  <a:tcPr marT="91425" marB="91425" marR="91425" marL="91425"/>
                </a:tc>
                <a:tc>
                  <a:txBody>
                    <a:bodyPr/>
                    <a:lstStyle/>
                    <a:p>
                      <a:pPr indent="0" lvl="0" marL="0" rtl="0" algn="l">
                        <a:spcBef>
                          <a:spcPts val="0"/>
                        </a:spcBef>
                        <a:spcAft>
                          <a:spcPts val="0"/>
                        </a:spcAft>
                        <a:buNone/>
                      </a:pPr>
                      <a:r>
                        <a:rPr lang="ja">
                          <a:solidFill>
                            <a:srgbClr val="434343"/>
                          </a:solidFill>
                        </a:rPr>
                        <a:t>渡邊 里奈</a:t>
                      </a:r>
                      <a:r>
                        <a:rPr lang="ja" sz="1100">
                          <a:solidFill>
                            <a:srgbClr val="434343"/>
                          </a:solidFill>
                        </a:rPr>
                        <a:t>（スライド一覧ページ）</a:t>
                      </a:r>
                      <a:endParaRPr sz="1100">
                        <a:solidFill>
                          <a:srgbClr val="434343"/>
                        </a:solidFill>
                      </a:endParaRPr>
                    </a:p>
                    <a:p>
                      <a:pPr indent="0" lvl="0" marL="0" rtl="0" algn="l">
                        <a:spcBef>
                          <a:spcPts val="0"/>
                        </a:spcBef>
                        <a:spcAft>
                          <a:spcPts val="0"/>
                        </a:spcAft>
                        <a:buNone/>
                      </a:pPr>
                      <a:r>
                        <a:rPr lang="ja">
                          <a:solidFill>
                            <a:srgbClr val="434343"/>
                          </a:solidFill>
                        </a:rPr>
                        <a:t>小菅 達矢</a:t>
                      </a:r>
                      <a:r>
                        <a:rPr lang="ja" sz="1100">
                          <a:solidFill>
                            <a:srgbClr val="434343"/>
                          </a:solidFill>
                        </a:rPr>
                        <a:t>（スライド作成編集UI）</a:t>
                      </a:r>
                      <a:endParaRPr sz="1300"/>
                    </a:p>
                  </a:txBody>
                  <a:tcPr marT="91425" marB="91425" marR="91425" marL="91425"/>
                </a:tc>
              </a:tr>
              <a:tr h="599225">
                <a:tc>
                  <a:txBody>
                    <a:bodyPr/>
                    <a:lstStyle/>
                    <a:p>
                      <a:pPr indent="0" lvl="0" marL="0" rtl="0" algn="l">
                        <a:spcBef>
                          <a:spcPts val="0"/>
                        </a:spcBef>
                        <a:spcAft>
                          <a:spcPts val="0"/>
                        </a:spcAft>
                        <a:buNone/>
                      </a:pPr>
                      <a:r>
                        <a:rPr lang="ja">
                          <a:solidFill>
                            <a:schemeClr val="dk1"/>
                          </a:solidFill>
                        </a:rPr>
                        <a:t>バック</a:t>
                      </a:r>
                      <a:r>
                        <a:rPr lang="ja">
                          <a:solidFill>
                            <a:schemeClr val="dk1"/>
                          </a:solidFill>
                        </a:rPr>
                        <a:t>エンド</a:t>
                      </a:r>
                      <a:endParaRPr/>
                    </a:p>
                  </a:txBody>
                  <a:tcPr marT="91425" marB="91425" marR="91425" marL="91425"/>
                </a:tc>
                <a:tc>
                  <a:txBody>
                    <a:bodyPr/>
                    <a:lstStyle/>
                    <a:p>
                      <a:pPr indent="0" lvl="0" marL="0" rtl="0" algn="l">
                        <a:spcBef>
                          <a:spcPts val="0"/>
                        </a:spcBef>
                        <a:spcAft>
                          <a:spcPts val="0"/>
                        </a:spcAft>
                        <a:buNone/>
                      </a:pPr>
                      <a:r>
                        <a:rPr lang="ja">
                          <a:solidFill>
                            <a:schemeClr val="dk1"/>
                          </a:solidFill>
                        </a:rPr>
                        <a:t>ユーザー情報管理</a:t>
                      </a:r>
                      <a:br>
                        <a:rPr lang="ja">
                          <a:solidFill>
                            <a:schemeClr val="dk1"/>
                          </a:solidFill>
                        </a:rPr>
                      </a:br>
                      <a:r>
                        <a:rPr lang="ja">
                          <a:solidFill>
                            <a:schemeClr val="dk1"/>
                          </a:solidFill>
                        </a:rPr>
                        <a:t>スライド情報管理</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990"/>
                        <a:buFont typeface="Arial"/>
                        <a:buNone/>
                      </a:pPr>
                      <a:r>
                        <a:rPr lang="ja">
                          <a:solidFill>
                            <a:srgbClr val="434343"/>
                          </a:solidFill>
                        </a:rPr>
                        <a:t>渡邊 里奈</a:t>
                      </a:r>
                      <a:endParaRPr>
                        <a:solidFill>
                          <a:srgbClr val="434343"/>
                        </a:solidFill>
                      </a:endParaRPr>
                    </a:p>
                    <a:p>
                      <a:pPr indent="0" lvl="0" marL="0" rtl="0" algn="l">
                        <a:spcBef>
                          <a:spcPts val="0"/>
                        </a:spcBef>
                        <a:spcAft>
                          <a:spcPts val="0"/>
                        </a:spcAft>
                        <a:buNone/>
                      </a:pPr>
                      <a:r>
                        <a:t/>
                      </a:r>
                      <a:endParaRPr sz="1300"/>
                    </a:p>
                  </a:txBody>
                  <a:tcPr marT="91425" marB="91425" marR="91425" marL="91425"/>
                </a:tc>
              </a:tr>
              <a:tr h="1438250">
                <a:tc>
                  <a:txBody>
                    <a:bodyPr/>
                    <a:lstStyle/>
                    <a:p>
                      <a:pPr indent="0" lvl="0" marL="0" rtl="0" algn="l">
                        <a:spcBef>
                          <a:spcPts val="0"/>
                        </a:spcBef>
                        <a:spcAft>
                          <a:spcPts val="0"/>
                        </a:spcAft>
                        <a:buClr>
                          <a:schemeClr val="dk1"/>
                        </a:buClr>
                        <a:buSzPts val="1100"/>
                        <a:buFont typeface="Arial"/>
                        <a:buNone/>
                      </a:pPr>
                      <a:r>
                        <a:rPr lang="ja">
                          <a:solidFill>
                            <a:schemeClr val="dk1"/>
                          </a:solidFill>
                        </a:rPr>
                        <a:t>コア機能</a:t>
                      </a:r>
                      <a:br>
                        <a:rPr lang="ja">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700">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　-</a:t>
                      </a:r>
                      <a:r>
                        <a:rPr lang="ja">
                          <a:solidFill>
                            <a:schemeClr val="dk1"/>
                          </a:solidFill>
                        </a:rPr>
                        <a:t>Microsoft Guidance</a:t>
                      </a: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 　(ライブラリ)を使用</a:t>
                      </a:r>
                      <a:endParaRPr>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ja">
                          <a:solidFill>
                            <a:schemeClr val="dk1"/>
                          </a:solidFill>
                        </a:rPr>
                        <a:t>オーディエンス機能</a:t>
                      </a:r>
                      <a:br>
                        <a:rPr lang="ja">
                          <a:solidFill>
                            <a:schemeClr val="dk1"/>
                          </a:solidFill>
                        </a:rPr>
                      </a:br>
                      <a:r>
                        <a:rPr lang="ja">
                          <a:solidFill>
                            <a:schemeClr val="dk1"/>
                          </a:solidFill>
                        </a:rPr>
                        <a:t> -Open AI APIとの連携</a:t>
                      </a:r>
                      <a:endParaRPr>
                        <a:solidFill>
                          <a:srgbClr val="434343"/>
                        </a:solidFill>
                      </a:endParaRPr>
                    </a:p>
                  </a:txBody>
                  <a:tcPr marT="91425" marB="91425" marR="91425" marL="91425"/>
                </a:tc>
                <a:tc>
                  <a:txBody>
                    <a:bodyPr/>
                    <a:lstStyle/>
                    <a:p>
                      <a:pPr indent="0" lvl="0" marL="0" rtl="0" algn="l">
                        <a:spcBef>
                          <a:spcPts val="0"/>
                        </a:spcBef>
                        <a:spcAft>
                          <a:spcPts val="0"/>
                        </a:spcAft>
                        <a:buNone/>
                      </a:pPr>
                      <a:r>
                        <a:rPr lang="ja">
                          <a:solidFill>
                            <a:srgbClr val="434343"/>
                          </a:solidFill>
                        </a:rPr>
                        <a:t>渡邊 里奈</a:t>
                      </a:r>
                      <a:r>
                        <a:rPr lang="ja" sz="1100">
                          <a:solidFill>
                            <a:srgbClr val="434343"/>
                          </a:solidFill>
                        </a:rPr>
                        <a:t>（プロンプトエンジニアリング）</a:t>
                      </a:r>
                      <a:endParaRPr sz="1100">
                        <a:solidFill>
                          <a:srgbClr val="434343"/>
                        </a:solidFill>
                      </a:endParaRPr>
                    </a:p>
                    <a:p>
                      <a:pPr indent="0" lvl="0" marL="0" rtl="0" algn="l">
                        <a:spcBef>
                          <a:spcPts val="0"/>
                        </a:spcBef>
                        <a:spcAft>
                          <a:spcPts val="0"/>
                        </a:spcAft>
                        <a:buClr>
                          <a:schemeClr val="dk1"/>
                        </a:buClr>
                        <a:buSzPts val="1100"/>
                        <a:buFont typeface="Arial"/>
                        <a:buNone/>
                      </a:pPr>
                      <a:r>
                        <a:rPr lang="ja">
                          <a:solidFill>
                            <a:srgbClr val="434343"/>
                          </a:solidFill>
                        </a:rPr>
                        <a:t>小菅 達矢</a:t>
                      </a:r>
                      <a:r>
                        <a:rPr lang="ja" sz="1100">
                          <a:solidFill>
                            <a:srgbClr val="434343"/>
                          </a:solidFill>
                        </a:rPr>
                        <a:t>（FastAPIによる実装）</a:t>
                      </a:r>
                      <a:endParaRPr sz="1100"/>
                    </a:p>
                  </a:txBody>
                  <a:tcPr marT="91425" marB="91425" marR="91425" marL="91425"/>
                </a:tc>
              </a:tr>
            </a:tbl>
          </a:graphicData>
        </a:graphic>
      </p:graphicFrame>
      <p:pic>
        <p:nvPicPr>
          <p:cNvPr id="159" name="Google Shape;159;p23"/>
          <p:cNvPicPr preferRelativeResize="0"/>
          <p:nvPr/>
        </p:nvPicPr>
        <p:blipFill>
          <a:blip r:embed="rId3">
            <a:alphaModFix/>
          </a:blip>
          <a:stretch>
            <a:fillRect/>
          </a:stretch>
        </p:blipFill>
        <p:spPr>
          <a:xfrm>
            <a:off x="633249" y="2160992"/>
            <a:ext cx="1327213" cy="459826"/>
          </a:xfrm>
          <a:prstGeom prst="rect">
            <a:avLst/>
          </a:prstGeom>
          <a:noFill/>
          <a:ln>
            <a:noFill/>
          </a:ln>
        </p:spPr>
      </p:pic>
      <p:pic>
        <p:nvPicPr>
          <p:cNvPr id="160" name="Google Shape;160;p23"/>
          <p:cNvPicPr preferRelativeResize="0"/>
          <p:nvPr/>
        </p:nvPicPr>
        <p:blipFill rotWithShape="1">
          <a:blip r:embed="rId4">
            <a:alphaModFix/>
          </a:blip>
          <a:srcRect b="19660" l="1472" r="2934" t="19660"/>
          <a:stretch/>
        </p:blipFill>
        <p:spPr>
          <a:xfrm>
            <a:off x="633256" y="1113113"/>
            <a:ext cx="1307103" cy="459824"/>
          </a:xfrm>
          <a:prstGeom prst="rect">
            <a:avLst/>
          </a:prstGeom>
          <a:noFill/>
          <a:ln>
            <a:noFill/>
          </a:ln>
        </p:spPr>
      </p:pic>
      <p:pic>
        <p:nvPicPr>
          <p:cNvPr id="161" name="Google Shape;161;p23"/>
          <p:cNvPicPr preferRelativeResize="0"/>
          <p:nvPr/>
        </p:nvPicPr>
        <p:blipFill rotWithShape="1">
          <a:blip r:embed="rId5">
            <a:alphaModFix/>
          </a:blip>
          <a:srcRect b="10438" l="8800" r="8800" t="10422"/>
          <a:stretch/>
        </p:blipFill>
        <p:spPr>
          <a:xfrm>
            <a:off x="623200" y="3606486"/>
            <a:ext cx="1327212" cy="459827"/>
          </a:xfrm>
          <a:prstGeom prst="rect">
            <a:avLst/>
          </a:prstGeom>
          <a:noFill/>
          <a:ln>
            <a:noFill/>
          </a:ln>
        </p:spPr>
      </p:pic>
      <p:pic>
        <p:nvPicPr>
          <p:cNvPr id="162" name="Google Shape;162;p23"/>
          <p:cNvPicPr preferRelativeResize="0"/>
          <p:nvPr/>
        </p:nvPicPr>
        <p:blipFill rotWithShape="1">
          <a:blip r:embed="rId6">
            <a:alphaModFix/>
          </a:blip>
          <a:srcRect b="0" l="0" r="12002" t="0"/>
          <a:stretch/>
        </p:blipFill>
        <p:spPr>
          <a:xfrm>
            <a:off x="633261" y="3208911"/>
            <a:ext cx="1373089" cy="459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4"/>
          <p:cNvPicPr preferRelativeResize="0"/>
          <p:nvPr/>
        </p:nvPicPr>
        <p:blipFill rotWithShape="1">
          <a:blip r:embed="rId3">
            <a:alphaModFix/>
          </a:blip>
          <a:srcRect b="42010" l="30848" r="8149" t="29783"/>
          <a:stretch/>
        </p:blipFill>
        <p:spPr>
          <a:xfrm>
            <a:off x="2283950" y="1551033"/>
            <a:ext cx="1900200" cy="1559617"/>
          </a:xfrm>
          <a:prstGeom prst="rect">
            <a:avLst/>
          </a:prstGeom>
          <a:noFill/>
          <a:ln>
            <a:noFill/>
          </a:ln>
        </p:spPr>
      </p:pic>
      <p:sp>
        <p:nvSpPr>
          <p:cNvPr id="168" name="Google Shape;168;p24"/>
          <p:cNvSpPr txBox="1"/>
          <p:nvPr>
            <p:ph type="ctrTitle"/>
          </p:nvPr>
        </p:nvSpPr>
        <p:spPr>
          <a:xfrm>
            <a:off x="260700" y="10790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appendix</a:t>
            </a:r>
            <a:endParaRPr sz="1180">
              <a:solidFill>
                <a:srgbClr val="434343"/>
              </a:solidFill>
            </a:endParaRPr>
          </a:p>
        </p:txBody>
      </p:sp>
      <p:cxnSp>
        <p:nvCxnSpPr>
          <p:cNvPr id="169" name="Google Shape;169;p24"/>
          <p:cNvCxnSpPr/>
          <p:nvPr/>
        </p:nvCxnSpPr>
        <p:spPr>
          <a:xfrm>
            <a:off x="260700" y="446050"/>
            <a:ext cx="8622600" cy="0"/>
          </a:xfrm>
          <a:prstGeom prst="straightConnector1">
            <a:avLst/>
          </a:prstGeom>
          <a:noFill/>
          <a:ln cap="flat" cmpd="sng" w="9525">
            <a:solidFill>
              <a:srgbClr val="CCCCCC"/>
            </a:solidFill>
            <a:prstDash val="solid"/>
            <a:round/>
            <a:headEnd len="med" w="med" type="none"/>
            <a:tailEnd len="med" w="med" type="none"/>
          </a:ln>
        </p:spPr>
      </p:cxnSp>
      <p:sp>
        <p:nvSpPr>
          <p:cNvPr id="170" name="Google Shape;17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71" name="Google Shape;171;p24"/>
          <p:cNvSpPr txBox="1"/>
          <p:nvPr>
            <p:ph type="ctrTitle"/>
          </p:nvPr>
        </p:nvSpPr>
        <p:spPr>
          <a:xfrm>
            <a:off x="260700" y="710350"/>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380">
                <a:solidFill>
                  <a:srgbClr val="434343"/>
                </a:solidFill>
              </a:rPr>
              <a:t>｜</a:t>
            </a:r>
            <a:r>
              <a:rPr lang="ja" sz="1380">
                <a:solidFill>
                  <a:srgbClr val="434343"/>
                </a:solidFill>
              </a:rPr>
              <a:t>チーム</a:t>
            </a:r>
            <a:r>
              <a:rPr lang="ja" sz="1380">
                <a:solidFill>
                  <a:srgbClr val="434343"/>
                </a:solidFill>
              </a:rPr>
              <a:t>紹介 </a:t>
            </a:r>
            <a:r>
              <a:rPr lang="ja" sz="1480">
                <a:solidFill>
                  <a:srgbClr val="434343"/>
                </a:solidFill>
              </a:rPr>
              <a:t>💁</a:t>
            </a:r>
            <a:r>
              <a:rPr lang="ja" sz="1380">
                <a:solidFill>
                  <a:srgbClr val="434343"/>
                </a:solidFill>
              </a:rPr>
              <a:t>　　　　　　　　　　　</a:t>
            </a:r>
            <a:endParaRPr sz="1380">
              <a:solidFill>
                <a:srgbClr val="434343"/>
              </a:solidFill>
            </a:endParaRPr>
          </a:p>
        </p:txBody>
      </p:sp>
      <p:sp>
        <p:nvSpPr>
          <p:cNvPr id="172" name="Google Shape;172;p24"/>
          <p:cNvSpPr txBox="1"/>
          <p:nvPr>
            <p:ph type="ctrTitle"/>
          </p:nvPr>
        </p:nvSpPr>
        <p:spPr>
          <a:xfrm>
            <a:off x="376575" y="3186850"/>
            <a:ext cx="4071900" cy="12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新卒で</a:t>
            </a:r>
            <a:r>
              <a:rPr lang="ja" sz="1180">
                <a:solidFill>
                  <a:srgbClr val="434343"/>
                </a:solidFill>
              </a:rPr>
              <a:t>帝人株式会社に入社。</a:t>
            </a:r>
            <a:r>
              <a:rPr lang="ja" sz="1180">
                <a:solidFill>
                  <a:srgbClr val="434343"/>
                </a:solidFill>
              </a:rPr>
              <a:t>5年間MR(医薬品営業)として働くなかで参加した経産省/JETRO主催の</a:t>
            </a:r>
            <a:r>
              <a:rPr lang="ja" sz="1180">
                <a:solidFill>
                  <a:srgbClr val="434343"/>
                </a:solidFill>
              </a:rPr>
              <a:t>イノベーター育成プログラム</a:t>
            </a:r>
            <a:r>
              <a:rPr lang="ja" sz="1180">
                <a:solidFill>
                  <a:srgbClr val="434343"/>
                </a:solidFill>
              </a:rPr>
              <a:t>「</a:t>
            </a:r>
            <a:r>
              <a:rPr lang="ja" sz="1180" u="sng">
                <a:solidFill>
                  <a:schemeClr val="hlink"/>
                </a:solidFill>
                <a:hlinkClick r:id="rId4"/>
              </a:rPr>
              <a:t>始動next innovator</a:t>
            </a:r>
            <a:r>
              <a:rPr lang="ja" sz="1180">
                <a:solidFill>
                  <a:srgbClr val="434343"/>
                </a:solidFill>
              </a:rPr>
              <a:t>」をきっかけに社内の新規事業部へ</a:t>
            </a:r>
            <a:r>
              <a:rPr lang="ja" sz="1180">
                <a:solidFill>
                  <a:srgbClr val="434343"/>
                </a:solidFill>
              </a:rPr>
              <a:t>異動。</a:t>
            </a:r>
            <a:r>
              <a:rPr lang="ja" sz="1180">
                <a:solidFill>
                  <a:srgbClr val="434343"/>
                </a:solidFill>
              </a:rPr>
              <a:t>現在は訪問看護師向け教育サービスを</a:t>
            </a:r>
            <a:r>
              <a:rPr lang="ja" sz="1180">
                <a:solidFill>
                  <a:srgbClr val="434343"/>
                </a:solidFill>
              </a:rPr>
              <a:t>新規</a:t>
            </a:r>
            <a:r>
              <a:rPr lang="ja" sz="1180">
                <a:solidFill>
                  <a:srgbClr val="434343"/>
                </a:solidFill>
              </a:rPr>
              <a:t>立ち上げ中。</a:t>
            </a:r>
            <a:endParaRPr sz="1180">
              <a:solidFill>
                <a:srgbClr val="434343"/>
              </a:solidFill>
            </a:endParaRPr>
          </a:p>
        </p:txBody>
      </p:sp>
      <p:sp>
        <p:nvSpPr>
          <p:cNvPr id="173" name="Google Shape;173;p24"/>
          <p:cNvSpPr txBox="1"/>
          <p:nvPr>
            <p:ph type="ctrTitle"/>
          </p:nvPr>
        </p:nvSpPr>
        <p:spPr>
          <a:xfrm>
            <a:off x="376575" y="1929250"/>
            <a:ext cx="17352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779">
                <a:solidFill>
                  <a:srgbClr val="434343"/>
                </a:solidFill>
              </a:rPr>
              <a:t>渡邊 里奈</a:t>
            </a:r>
            <a:endParaRPr b="1" sz="1779">
              <a:solidFill>
                <a:srgbClr val="434343"/>
              </a:solidFill>
            </a:endParaRPr>
          </a:p>
        </p:txBody>
      </p:sp>
      <p:sp>
        <p:nvSpPr>
          <p:cNvPr id="174" name="Google Shape;174;p24"/>
          <p:cNvSpPr txBox="1"/>
          <p:nvPr>
            <p:ph type="ctrTitle"/>
          </p:nvPr>
        </p:nvSpPr>
        <p:spPr>
          <a:xfrm>
            <a:off x="376575" y="1644850"/>
            <a:ext cx="17352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280">
                <a:solidFill>
                  <a:srgbClr val="434343"/>
                </a:solidFill>
              </a:rPr>
              <a:t>企画・技術</a:t>
            </a:r>
            <a:endParaRPr sz="1280">
              <a:solidFill>
                <a:srgbClr val="434343"/>
              </a:solidFill>
            </a:endParaRPr>
          </a:p>
        </p:txBody>
      </p:sp>
      <p:sp>
        <p:nvSpPr>
          <p:cNvPr id="175" name="Google Shape;175;p24"/>
          <p:cNvSpPr txBox="1"/>
          <p:nvPr>
            <p:ph type="ctrTitle"/>
          </p:nvPr>
        </p:nvSpPr>
        <p:spPr>
          <a:xfrm>
            <a:off x="376575" y="2247050"/>
            <a:ext cx="1900200" cy="89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#音楽 #フェス #クロスバイク #インテリア #下北沢 #京都 #アーチェリー #100年日記10年目突入</a:t>
            </a:r>
            <a:endParaRPr sz="1180">
              <a:solidFill>
                <a:srgbClr val="434343"/>
              </a:solidFill>
            </a:endParaRPr>
          </a:p>
        </p:txBody>
      </p:sp>
      <p:sp>
        <p:nvSpPr>
          <p:cNvPr id="176" name="Google Shape;176;p24"/>
          <p:cNvSpPr txBox="1"/>
          <p:nvPr>
            <p:ph type="ctrTitle"/>
          </p:nvPr>
        </p:nvSpPr>
        <p:spPr>
          <a:xfrm>
            <a:off x="4661125" y="3190404"/>
            <a:ext cx="4071900" cy="12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30歳以降Web業界を志す。フロントエンドエンジニアをメインとしながら、講師業・オンラインコミュニティマネージャーと多岐に渡る。自分でも色々学ぶのが好きで、学ぶ側・教える側・規模の大小を総合して22もの場所に関わってきた。ちなみにチームボスとは大学学部の先輩後輩にあたる。</a:t>
            </a:r>
            <a:endParaRPr sz="1180">
              <a:solidFill>
                <a:srgbClr val="434343"/>
              </a:solidFill>
            </a:endParaRPr>
          </a:p>
        </p:txBody>
      </p:sp>
      <p:sp>
        <p:nvSpPr>
          <p:cNvPr id="177" name="Google Shape;177;p24"/>
          <p:cNvSpPr/>
          <p:nvPr/>
        </p:nvSpPr>
        <p:spPr>
          <a:xfrm>
            <a:off x="6568500" y="1559626"/>
            <a:ext cx="1900200" cy="1559700"/>
          </a:xfrm>
          <a:prstGeom prst="roundRect">
            <a:avLst>
              <a:gd fmla="val 334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写真</a:t>
            </a:r>
            <a:endParaRPr sz="1100"/>
          </a:p>
        </p:txBody>
      </p:sp>
      <p:sp>
        <p:nvSpPr>
          <p:cNvPr id="178" name="Google Shape;178;p24"/>
          <p:cNvSpPr txBox="1"/>
          <p:nvPr>
            <p:ph type="ctrTitle"/>
          </p:nvPr>
        </p:nvSpPr>
        <p:spPr>
          <a:xfrm>
            <a:off x="4661125" y="1929238"/>
            <a:ext cx="17352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779">
                <a:solidFill>
                  <a:srgbClr val="434343"/>
                </a:solidFill>
              </a:rPr>
              <a:t>小菅 達矢</a:t>
            </a:r>
            <a:endParaRPr b="1" sz="1779">
              <a:solidFill>
                <a:srgbClr val="434343"/>
              </a:solidFill>
            </a:endParaRPr>
          </a:p>
        </p:txBody>
      </p:sp>
      <p:sp>
        <p:nvSpPr>
          <p:cNvPr id="179" name="Google Shape;179;p24"/>
          <p:cNvSpPr txBox="1"/>
          <p:nvPr>
            <p:ph type="ctrTitle"/>
          </p:nvPr>
        </p:nvSpPr>
        <p:spPr>
          <a:xfrm>
            <a:off x="4661125" y="1649138"/>
            <a:ext cx="17352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280">
                <a:solidFill>
                  <a:srgbClr val="434343"/>
                </a:solidFill>
              </a:rPr>
              <a:t>技術</a:t>
            </a:r>
            <a:endParaRPr sz="1280">
              <a:solidFill>
                <a:srgbClr val="434343"/>
              </a:solidFill>
            </a:endParaRPr>
          </a:p>
        </p:txBody>
      </p:sp>
      <p:sp>
        <p:nvSpPr>
          <p:cNvPr id="180" name="Google Shape;180;p24"/>
          <p:cNvSpPr txBox="1"/>
          <p:nvPr>
            <p:ph type="ctrTitle"/>
          </p:nvPr>
        </p:nvSpPr>
        <p:spPr>
          <a:xfrm>
            <a:off x="4661125" y="2247038"/>
            <a:ext cx="1900200" cy="89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180">
                <a:solidFill>
                  <a:srgbClr val="434343"/>
                </a:solidFill>
              </a:rPr>
              <a:t>#</a:t>
            </a:r>
            <a:r>
              <a:rPr lang="ja" sz="1180">
                <a:solidFill>
                  <a:srgbClr val="434343"/>
                </a:solidFill>
              </a:rPr>
              <a:t>太田上田 #サウナ #日本酒 #デスクいじり #語学 #音楽 #湘南 #教育業 #文化人になりたい</a:t>
            </a:r>
            <a:endParaRPr sz="1180">
              <a:solidFill>
                <a:srgbClr val="434343"/>
              </a:solidFill>
            </a:endParaRPr>
          </a:p>
        </p:txBody>
      </p:sp>
      <p:pic>
        <p:nvPicPr>
          <p:cNvPr id="181" name="Google Shape;181;p24"/>
          <p:cNvPicPr preferRelativeResize="0"/>
          <p:nvPr/>
        </p:nvPicPr>
        <p:blipFill rotWithShape="1">
          <a:blip r:embed="rId5">
            <a:alphaModFix/>
          </a:blip>
          <a:srcRect b="0" l="1996" r="13779" t="0"/>
          <a:stretch/>
        </p:blipFill>
        <p:spPr>
          <a:xfrm>
            <a:off x="6568500" y="1551025"/>
            <a:ext cx="1900200" cy="1559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