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SemiBold"/>
      <p:regular r:id="rId20"/>
      <p:bold r:id="rId21"/>
      <p:italic r:id="rId22"/>
      <p:boldItalic r:id="rId23"/>
    </p:embeddedFont>
    <p:embeddedFont>
      <p:font typeface="Montserra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SemiBold-regular.fntdata"/><Relationship Id="rId22" Type="http://schemas.openxmlformats.org/officeDocument/2006/relationships/font" Target="fonts/MontserratSemiBold-italic.fntdata"/><Relationship Id="rId21" Type="http://schemas.openxmlformats.org/officeDocument/2006/relationships/font" Target="fonts/MontserratSemiBold-bold.fntdata"/><Relationship Id="rId24" Type="http://schemas.openxmlformats.org/officeDocument/2006/relationships/font" Target="fonts/Montserrat-regular.fntdata"/><Relationship Id="rId23" Type="http://schemas.openxmlformats.org/officeDocument/2006/relationships/font" Target="fonts/Montserrat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cb398612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cb398612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オーディエンスの反応を予測するプレゼン作成支援ツールピッチカートです！（チームメンバーで起業希望です。よろしくお願いします）</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cb398612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8cb398612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sz="1180">
                <a:solidFill>
                  <a:srgbClr val="434343"/>
                </a:solidFill>
              </a:rPr>
              <a:t>3年前、私はスタートアップや新規事業の支援プログラムであるアクセラレータープログラムに参加しており、100人いる同期の素晴らしい事業企画とピッチを目にしてきました。同期とは何度も相談や壁打ちをしていたため「なぜ取り組んでいるのか」「どんな世界をつくっていきたいのか」といった背景情報も知った上で、とても素晴らしい事業・サービスだと感じていました。プログラムの最後には、最終選考のピッチがありましたが、次のステップに進めるのは20人のみ。選考に通らず悔しい思いをしている人が多く</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4e14faf0f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4e14faf0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1180">
                <a:solidFill>
                  <a:srgbClr val="434343"/>
                </a:solidFill>
              </a:rPr>
              <a:t>「こんなに良い事業企画で、スライドデザインも悪くない、なのになぜ伝わっていないの？何とかしたい！」と</a:t>
            </a:r>
            <a:r>
              <a:rPr b="1" lang="ja" sz="1180">
                <a:solidFill>
                  <a:srgbClr val="434343"/>
                </a:solidFill>
              </a:rPr>
              <a:t>思いジーズに入学しました。</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4e14faf0f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4e14faf0f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ja"/>
              <a:t>選考に通らない理由には様々な要因があると思います。</a:t>
            </a:r>
            <a:r>
              <a:rPr lang="ja">
                <a:solidFill>
                  <a:schemeClr val="dk1"/>
                </a:solidFill>
              </a:rPr>
              <a:t>しかし、審査員がこういったことを判断するためには、</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8cb398612a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8cb398612a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ja"/>
              <a:t>そもそも「審査員が知りたい情報が伝わっていない」と判断できないのではないでしょうか？</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4e14faf0f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4e14faf0f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solidFill>
                  <a:schemeClr val="dk1"/>
                </a:solidFill>
              </a:rPr>
              <a:t>相手が</a:t>
            </a:r>
            <a:r>
              <a:rPr lang="ja">
                <a:solidFill>
                  <a:schemeClr val="dk1"/>
                </a:solidFill>
              </a:rPr>
              <a:t>どんな印象を持つか？どんなことに疑問を感じそうか？</a:t>
            </a:r>
            <a:r>
              <a:rPr lang="ja">
                <a:solidFill>
                  <a:schemeClr val="dk1"/>
                </a:solidFill>
              </a:rPr>
              <a:t>ピッチカートを使えば、ピッチの前に確認できます！</a:t>
            </a:r>
            <a:endParaRPr b="1" sz="1180">
              <a:solidFill>
                <a:srgbClr val="434343"/>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4e14faf0f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4e14faf0f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ja"/>
              <a:t>それでは今回は、このプレゼンで使用しているスライドを、ピッチカートで分析してみましょう！まずはオーディエンス情報を入力し（</a:t>
            </a:r>
            <a:r>
              <a:rPr lang="ja" sz="1050">
                <a:solidFill>
                  <a:schemeClr val="dk1"/>
                </a:solidFill>
              </a:rPr>
              <a:t>世界を変えるプロダクトを生み出す起業家・エンジニア養成スクールで開催される卒業制作プロダクト発表デモデイの予選会の審査員</a:t>
            </a:r>
            <a:r>
              <a:rPr lang="ja"/>
              <a:t>）分析したいスライドを選択します。パワーポイントのスライド編集画面の下にあるノートに原稿を記載していれば、原稿も含めて分析することができます。分析ボタンをクリックすると、スライドの内容（テキストや画像）はPythonで解析され、その内容はAIによって分析されます。分析結果が出ると、分析結果を表示する画面に切り替わります。</a:t>
            </a:r>
            <a:endParaRPr/>
          </a:p>
          <a:p>
            <a:pPr indent="0" lvl="0" marL="0" rtl="0" algn="l">
              <a:spcBef>
                <a:spcPts val="0"/>
              </a:spcBef>
              <a:spcAft>
                <a:spcPts val="0"/>
              </a:spcAft>
              <a:buClr>
                <a:schemeClr val="dk1"/>
              </a:buClr>
              <a:buSzPts val="990"/>
              <a:buFont typeface="Arial"/>
              <a:buNone/>
            </a:pPr>
            <a:r>
              <a:t/>
            </a:r>
            <a:endParaRPr/>
          </a:p>
          <a:p>
            <a:pPr indent="0" lvl="0" marL="0" rtl="0" algn="l">
              <a:spcBef>
                <a:spcPts val="0"/>
              </a:spcBef>
              <a:spcAft>
                <a:spcPts val="0"/>
              </a:spcAft>
              <a:buClr>
                <a:schemeClr val="dk1"/>
              </a:buClr>
              <a:buSzPts val="990"/>
              <a:buFont typeface="Arial"/>
              <a:buNone/>
            </a:pPr>
            <a:r>
              <a:rPr lang="ja"/>
              <a:t>分析結果として、あなたが入力したオーディエンスが、スライド全体をみた時に印象に残ることや疑問に感じることがアウトプットされます。相手が知りたい情報が伝わっているか？という視点でスライドを調整する手がかりとなります。また、各スライドページごとにどのように盛り上がりが変化するかも確認することができます。あなたが意図した場所で盛り上がっているか、確認し、ストーリー展開を調整する手がかりとなります。そして、各スライドページごとにも、オーディエンスがどんなことを知りたいのか？情報量は適切か？どんな印象を持つのか？が可視化され、ページごとに相手が知りたい情報がしっかり伝わっているか？を確認することができます。</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4e14faf0f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4e14faf0f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ja"/>
              <a:t>ピッチカートを使って相手が知りたい情報がわかったら、あなたの思いが相手に的確に伝わるようにスライドを調整して、ピッチ本番に挑みましょう！</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cb398612a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8cb398612a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本プロダクトでは、フロントエンドにReactを、バックエンドにPythonの軽量で高速なフレームワークであるFast APIを採用</a:t>
            </a:r>
            <a:r>
              <a:rPr lang="ja"/>
              <a:t>しています。</a:t>
            </a:r>
            <a:endParaRPr/>
          </a:p>
          <a:p>
            <a:pPr indent="0" lvl="0" marL="0" rtl="0" algn="l">
              <a:spcBef>
                <a:spcPts val="0"/>
              </a:spcBef>
              <a:spcAft>
                <a:spcPts val="0"/>
              </a:spcAft>
              <a:buNone/>
            </a:pPr>
            <a:r>
              <a:rPr lang="ja"/>
              <a:t>ReactはVercel、Fast APIはGoogle Cloud Run上で、それぞれ稼働させています。</a:t>
            </a:r>
            <a:br>
              <a:rPr lang="ja"/>
            </a:br>
            <a:endParaRPr/>
          </a:p>
          <a:p>
            <a:pPr indent="0" lvl="0" marL="0" rtl="0" algn="l">
              <a:spcBef>
                <a:spcPts val="0"/>
              </a:spcBef>
              <a:spcAft>
                <a:spcPts val="0"/>
              </a:spcAft>
              <a:buNone/>
            </a:pPr>
            <a:r>
              <a:rPr lang="ja"/>
              <a:t>ユーザーがアップロードしたスライド資料は、Pythonのライブラリであるpython-pptxやOCR技術など組み合わせて内容解析され</a:t>
            </a:r>
            <a:r>
              <a:rPr lang="ja"/>
              <a:t>ます。</a:t>
            </a:r>
            <a:endParaRPr/>
          </a:p>
          <a:p>
            <a:pPr indent="0" lvl="0" marL="0" rtl="0" algn="l">
              <a:spcBef>
                <a:spcPts val="0"/>
              </a:spcBef>
              <a:spcAft>
                <a:spcPts val="0"/>
              </a:spcAft>
              <a:buNone/>
            </a:pPr>
            <a:br>
              <a:rPr lang="ja"/>
            </a:br>
            <a:r>
              <a:rPr lang="ja"/>
              <a:t>解析データは、Open AIのAPIにより内容分析が行われ、分析された結果がアプリケーション上に表示されます。</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スライドの解析結果を評価する際は、Microsoft Guidanceという大規模言語モデル（LLM）制御フレームワークを使用、これにより拡張性の高いプロンプトの設定・複雑な分析が可能となっています。</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8cb398612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8cb398612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ja" sz="1180">
                <a:solidFill>
                  <a:srgbClr val="434343"/>
                </a:solidFill>
              </a:rPr>
              <a:t>初めは無料で使用できますが、一定の使用回数を超えた場合は、</a:t>
            </a:r>
            <a:r>
              <a:rPr lang="ja" sz="1180">
                <a:solidFill>
                  <a:srgbClr val="434343"/>
                </a:solidFill>
              </a:rPr>
              <a:t>使用する文字数に応じた従量課金とします。</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cb398612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8cb398612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GGAに</a:t>
            </a:r>
            <a:r>
              <a:rPr lang="ja"/>
              <a:t>向けて、さらに充実したプロダクトとするために、MVPをユーザーに使用していただき、いただいたFBから改善をおこなう予定です。また、現在未開発の保存機能を追加開発予定です。</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90e4709cb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90e4709cb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GGA</a:t>
            </a:r>
            <a:r>
              <a:rPr lang="ja"/>
              <a:t>では、プロダクトのβ版利用をGGA参加者から募集し、改修を経て24年の3月に正式リリース予定です。ユーザー数が100人を超えたら会社登記し起業したいと考えています。</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4e14faf0f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4e14faf0f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ピッチやプレゼンをする目的、それは「人を動かす」ことだと思います。</a:t>
            </a:r>
            <a:endParaRPr/>
          </a:p>
          <a:p>
            <a:pPr indent="0" lvl="0" marL="0" rtl="0" algn="l">
              <a:spcBef>
                <a:spcPts val="0"/>
              </a:spcBef>
              <a:spcAft>
                <a:spcPts val="0"/>
              </a:spcAft>
              <a:buNone/>
            </a:pPr>
            <a:r>
              <a:rPr lang="ja"/>
              <a:t>私たちは、オーディエンスの反応を予測するプレゼンツールを提供することで、相手に伝わるプレゼン作成を支援し</a:t>
            </a:r>
            <a:endParaRPr/>
          </a:p>
          <a:p>
            <a:pPr indent="0" lvl="0" marL="0" rtl="0" algn="l">
              <a:spcBef>
                <a:spcPts val="0"/>
              </a:spcBef>
              <a:spcAft>
                <a:spcPts val="0"/>
              </a:spcAft>
              <a:buNone/>
            </a:pPr>
            <a:r>
              <a:rPr lang="ja"/>
              <a:t>事業やサービスを立ち上げたい人が、周囲を巻き込みやすくなる世界を実現したいです！！！</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4e14faf0f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4e14faf0f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私は本日紹介したピッチカートで起業希望で、チームメンバーのこすげさんも同様です。</a:t>
            </a:r>
            <a:endParaRPr/>
          </a:p>
          <a:p>
            <a:pPr indent="0" lvl="0" marL="0" rtl="0" algn="l">
              <a:spcBef>
                <a:spcPts val="0"/>
              </a:spcBef>
              <a:spcAft>
                <a:spcPts val="0"/>
              </a:spcAft>
              <a:buNone/>
            </a:pPr>
            <a:r>
              <a:rPr lang="ja"/>
              <a:t>GGA</a:t>
            </a:r>
            <a:r>
              <a:rPr lang="ja"/>
              <a:t>では</a:t>
            </a:r>
            <a:r>
              <a:rPr lang="ja">
                <a:solidFill>
                  <a:schemeClr val="dk1"/>
                </a:solidFill>
              </a:rPr>
              <a:t>ピッチカートの</a:t>
            </a:r>
            <a:r>
              <a:rPr lang="ja"/>
              <a:t>β版使用枠を募集します！使ってみたいという方は、ぜひお声がけください！ありがとうございました！</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LvcAHOi0vUGSY5Yme3hGa58DwkYZzcyU/view" TargetMode="Externa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8.jpg"/><Relationship Id="rId11" Type="http://schemas.openxmlformats.org/officeDocument/2006/relationships/image" Target="../media/image9.png"/><Relationship Id="rId10"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494350" y="542675"/>
            <a:ext cx="8649600" cy="66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480">
                <a:solidFill>
                  <a:srgbClr val="193970"/>
                </a:solidFill>
              </a:rPr>
              <a:t>オーディエンスの反応を予測するプレゼン</a:t>
            </a:r>
            <a:r>
              <a:rPr b="1" lang="ja" sz="2480">
                <a:solidFill>
                  <a:srgbClr val="193970"/>
                </a:solidFill>
              </a:rPr>
              <a:t>作成支援</a:t>
            </a:r>
            <a:r>
              <a:rPr b="1" lang="ja" sz="2480">
                <a:solidFill>
                  <a:srgbClr val="193970"/>
                </a:solidFill>
              </a:rPr>
              <a:t>ツール</a:t>
            </a:r>
            <a:endParaRPr b="1" sz="2680">
              <a:solidFill>
                <a:srgbClr val="193970"/>
              </a:solidFill>
            </a:endParaRPr>
          </a:p>
        </p:txBody>
      </p:sp>
      <p:sp>
        <p:nvSpPr>
          <p:cNvPr id="55" name="Google Shape;55;p13"/>
          <p:cNvSpPr txBox="1"/>
          <p:nvPr>
            <p:ph type="ctrTitle"/>
          </p:nvPr>
        </p:nvSpPr>
        <p:spPr>
          <a:xfrm>
            <a:off x="5589950" y="3946475"/>
            <a:ext cx="2549400" cy="445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SzPts val="990"/>
              <a:buNone/>
            </a:pPr>
            <a:r>
              <a:rPr lang="ja" sz="1180">
                <a:solidFill>
                  <a:srgbClr val="193970"/>
                </a:solidFill>
              </a:rPr>
              <a:t>東京 DEV25期 渡邊里奈 小菅達矢</a:t>
            </a:r>
            <a:endParaRPr sz="1180">
              <a:solidFill>
                <a:srgbClr val="193970"/>
              </a:solidFill>
            </a:endParaRPr>
          </a:p>
        </p:txBody>
      </p:sp>
      <p:sp>
        <p:nvSpPr>
          <p:cNvPr id="56" name="Google Shape;56;p13"/>
          <p:cNvSpPr txBox="1"/>
          <p:nvPr>
            <p:ph type="ctrTitle"/>
          </p:nvPr>
        </p:nvSpPr>
        <p:spPr>
          <a:xfrm>
            <a:off x="5290164" y="1241493"/>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57" name="Google Shape;57;p13"/>
          <p:cNvSpPr txBox="1"/>
          <p:nvPr>
            <p:ph type="ctrTitle"/>
          </p:nvPr>
        </p:nvSpPr>
        <p:spPr>
          <a:xfrm>
            <a:off x="494350" y="899550"/>
            <a:ext cx="4980600" cy="15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7080">
                <a:solidFill>
                  <a:srgbClr val="193970"/>
                </a:solidFill>
                <a:latin typeface="Montserrat"/>
                <a:ea typeface="Montserrat"/>
                <a:cs typeface="Montserrat"/>
                <a:sym typeface="Montserrat"/>
              </a:rPr>
              <a:t>Pitch Cart</a:t>
            </a:r>
            <a:endParaRPr sz="5380">
              <a:solidFill>
                <a:srgbClr val="193970"/>
              </a:solidFill>
              <a:latin typeface="Montserrat"/>
              <a:ea typeface="Montserrat"/>
              <a:cs typeface="Montserrat"/>
              <a:sym typeface="Montserrat"/>
            </a:endParaRPr>
          </a:p>
        </p:txBody>
      </p:sp>
      <p:sp>
        <p:nvSpPr>
          <p:cNvPr id="58" name="Google Shape;58;p13"/>
          <p:cNvSpPr txBox="1"/>
          <p:nvPr>
            <p:ph type="ctrTitle"/>
          </p:nvPr>
        </p:nvSpPr>
        <p:spPr>
          <a:xfrm>
            <a:off x="494350" y="2111475"/>
            <a:ext cx="6857700" cy="94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679">
                <a:solidFill>
                  <a:srgbClr val="193970"/>
                </a:solidFill>
              </a:rPr>
              <a:t>ステークホルダーに </a:t>
            </a:r>
            <a:r>
              <a:rPr b="1" lang="ja" sz="1679">
                <a:solidFill>
                  <a:srgbClr val="193970"/>
                </a:solidFill>
              </a:rPr>
              <a:t>あなたの思いが的確に伝わる</a:t>
            </a:r>
            <a:endParaRPr sz="1679">
              <a:solidFill>
                <a:srgbClr val="193970"/>
              </a:solidFill>
            </a:endParaRPr>
          </a:p>
        </p:txBody>
      </p:sp>
      <p:sp>
        <p:nvSpPr>
          <p:cNvPr id="59" name="Google Shape;59;p13"/>
          <p:cNvSpPr/>
          <p:nvPr/>
        </p:nvSpPr>
        <p:spPr>
          <a:xfrm>
            <a:off x="0" y="4767300"/>
            <a:ext cx="9144000" cy="376200"/>
          </a:xfrm>
          <a:prstGeom prst="rect">
            <a:avLst/>
          </a:prstGeom>
          <a:solidFill>
            <a:srgbClr val="FDCF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txBox="1"/>
          <p:nvPr>
            <p:ph type="ctrTitle"/>
          </p:nvPr>
        </p:nvSpPr>
        <p:spPr>
          <a:xfrm>
            <a:off x="8535573" y="3106529"/>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1" name="Google Shape;61;p13"/>
          <p:cNvSpPr txBox="1"/>
          <p:nvPr>
            <p:ph type="ctrTitle"/>
          </p:nvPr>
        </p:nvSpPr>
        <p:spPr>
          <a:xfrm>
            <a:off x="-407750" y="-181360"/>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2" name="Google Shape;62;p13"/>
          <p:cNvSpPr txBox="1"/>
          <p:nvPr>
            <p:ph type="ctrTitle"/>
          </p:nvPr>
        </p:nvSpPr>
        <p:spPr>
          <a:xfrm>
            <a:off x="7352054" y="908910"/>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3" name="Google Shape;63;p13"/>
          <p:cNvSpPr txBox="1"/>
          <p:nvPr>
            <p:ph type="ctrTitle"/>
          </p:nvPr>
        </p:nvSpPr>
        <p:spPr>
          <a:xfrm>
            <a:off x="324255" y="3106529"/>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4" name="Google Shape;64;p13"/>
          <p:cNvSpPr txBox="1"/>
          <p:nvPr>
            <p:ph type="ctrTitle"/>
          </p:nvPr>
        </p:nvSpPr>
        <p:spPr>
          <a:xfrm>
            <a:off x="3450602" y="2782216"/>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5" name="Google Shape;65;p13"/>
          <p:cNvSpPr txBox="1"/>
          <p:nvPr>
            <p:ph type="ctrTitle"/>
          </p:nvPr>
        </p:nvSpPr>
        <p:spPr>
          <a:xfrm>
            <a:off x="6125864" y="2687195"/>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
        <p:nvSpPr>
          <p:cNvPr id="66" name="Google Shape;66;p13"/>
          <p:cNvSpPr txBox="1"/>
          <p:nvPr>
            <p:ph type="ctrTitle"/>
          </p:nvPr>
        </p:nvSpPr>
        <p:spPr>
          <a:xfrm>
            <a:off x="6364809" y="-367225"/>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ja" sz="4780">
                <a:solidFill>
                  <a:srgbClr val="434343"/>
                </a:solidFill>
              </a:rPr>
              <a:t>😐</a:t>
            </a:r>
            <a:endParaRPr sz="4680">
              <a:solidFill>
                <a:srgbClr val="434343"/>
              </a:solidFill>
            </a:endParaRPr>
          </a:p>
        </p:txBody>
      </p:sp>
      <p:sp>
        <p:nvSpPr>
          <p:cNvPr id="67" name="Google Shape;67;p13"/>
          <p:cNvSpPr txBox="1"/>
          <p:nvPr>
            <p:ph type="ctrTitle"/>
          </p:nvPr>
        </p:nvSpPr>
        <p:spPr>
          <a:xfrm>
            <a:off x="2089318" y="3696479"/>
            <a:ext cx="1115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780">
                <a:solidFill>
                  <a:srgbClr val="434343"/>
                </a:solidFill>
              </a:rPr>
              <a:t>🎉</a:t>
            </a:r>
            <a:endParaRPr sz="4680">
              <a:solidFill>
                <a:srgbClr val="43434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4"/>
          <p:cNvPicPr preferRelativeResize="0"/>
          <p:nvPr/>
        </p:nvPicPr>
        <p:blipFill rotWithShape="1">
          <a:blip r:embed="rId3">
            <a:alphaModFix/>
          </a:blip>
          <a:srcRect b="11247" l="0" r="0" t="4379"/>
          <a:stretch/>
        </p:blipFill>
        <p:spPr>
          <a:xfrm>
            <a:off x="0" y="0"/>
            <a:ext cx="9144000" cy="5143501"/>
          </a:xfrm>
          <a:prstGeom prst="rect">
            <a:avLst/>
          </a:prstGeom>
          <a:noFill/>
          <a:ln>
            <a:noFill/>
          </a:ln>
        </p:spPr>
      </p:pic>
      <p:sp>
        <p:nvSpPr>
          <p:cNvPr id="73" name="Google Shape;73;p14"/>
          <p:cNvSpPr/>
          <p:nvPr/>
        </p:nvSpPr>
        <p:spPr>
          <a:xfrm>
            <a:off x="2341550" y="0"/>
            <a:ext cx="6802500" cy="5143500"/>
          </a:xfrm>
          <a:prstGeom prst="rect">
            <a:avLst/>
          </a:prstGeom>
          <a:solidFill>
            <a:srgbClr val="FEFB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75" name="Google Shape;75;p14"/>
          <p:cNvSpPr txBox="1"/>
          <p:nvPr>
            <p:ph type="ctrTitle"/>
          </p:nvPr>
        </p:nvSpPr>
        <p:spPr>
          <a:xfrm>
            <a:off x="2718150" y="1591800"/>
            <a:ext cx="6426000" cy="19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ja" sz="2180">
                <a:solidFill>
                  <a:srgbClr val="434343"/>
                </a:solidFill>
              </a:rPr>
              <a:t>3</a:t>
            </a:r>
            <a:r>
              <a:rPr b="1" lang="ja" sz="1779">
                <a:solidFill>
                  <a:srgbClr val="434343"/>
                </a:solidFill>
              </a:rPr>
              <a:t>年前、あるアクセラレータープログラムに参加</a:t>
            </a:r>
            <a:endParaRPr b="1" sz="1779">
              <a:solidFill>
                <a:srgbClr val="434343"/>
              </a:solidFill>
            </a:endParaRPr>
          </a:p>
          <a:p>
            <a:pPr indent="0" lvl="0" marL="0" rtl="0" algn="l">
              <a:spcBef>
                <a:spcPts val="0"/>
              </a:spcBef>
              <a:spcAft>
                <a:spcPts val="0"/>
              </a:spcAft>
              <a:buSzPts val="990"/>
              <a:buNone/>
            </a:pPr>
            <a:r>
              <a:t/>
            </a:r>
            <a:endParaRPr b="1" sz="1779">
              <a:solidFill>
                <a:srgbClr val="434343"/>
              </a:solidFill>
            </a:endParaRPr>
          </a:p>
          <a:p>
            <a:pPr indent="0" lvl="0" marL="0" rtl="0" algn="l">
              <a:spcBef>
                <a:spcPts val="0"/>
              </a:spcBef>
              <a:spcAft>
                <a:spcPts val="0"/>
              </a:spcAft>
              <a:buSzPts val="990"/>
              <a:buNone/>
            </a:pPr>
            <a:r>
              <a:rPr b="1" lang="ja" sz="2180">
                <a:solidFill>
                  <a:srgbClr val="434343"/>
                </a:solidFill>
              </a:rPr>
              <a:t>100</a:t>
            </a:r>
            <a:r>
              <a:rPr b="1" lang="ja" sz="1779">
                <a:solidFill>
                  <a:srgbClr val="434343"/>
                </a:solidFill>
              </a:rPr>
              <a:t>人いる同期の事業・サービスはどれも素晴らしかった</a:t>
            </a:r>
            <a:endParaRPr b="1" sz="1779">
              <a:solidFill>
                <a:srgbClr val="434343"/>
              </a:solidFill>
            </a:endParaRPr>
          </a:p>
          <a:p>
            <a:pPr indent="0" lvl="0" marL="0" rtl="0" algn="l">
              <a:spcBef>
                <a:spcPts val="0"/>
              </a:spcBef>
              <a:spcAft>
                <a:spcPts val="0"/>
              </a:spcAft>
              <a:buSzPts val="990"/>
              <a:buNone/>
            </a:pPr>
            <a:r>
              <a:t/>
            </a:r>
            <a:endParaRPr b="1" sz="1779">
              <a:solidFill>
                <a:srgbClr val="434343"/>
              </a:solidFill>
            </a:endParaRPr>
          </a:p>
          <a:p>
            <a:pPr indent="0" lvl="0" marL="0" rtl="0" algn="l">
              <a:spcBef>
                <a:spcPts val="0"/>
              </a:spcBef>
              <a:spcAft>
                <a:spcPts val="0"/>
              </a:spcAft>
              <a:buSzPts val="990"/>
              <a:buNone/>
            </a:pPr>
            <a:r>
              <a:rPr b="1" lang="ja" sz="1779">
                <a:solidFill>
                  <a:srgbClr val="434343"/>
                </a:solidFill>
              </a:rPr>
              <a:t>しかし最終選考ピッチを経て次ステップに進めるのは</a:t>
            </a:r>
            <a:r>
              <a:rPr b="1" lang="ja" sz="2180">
                <a:solidFill>
                  <a:srgbClr val="434343"/>
                </a:solidFill>
              </a:rPr>
              <a:t>20</a:t>
            </a:r>
            <a:r>
              <a:rPr b="1" lang="ja" sz="1779">
                <a:solidFill>
                  <a:srgbClr val="434343"/>
                </a:solidFill>
              </a:rPr>
              <a:t>人...</a:t>
            </a:r>
            <a:endParaRPr b="1" sz="1779">
              <a:solidFill>
                <a:srgbClr val="4343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79" name="Shape 79"/>
        <p:cNvGrpSpPr/>
        <p:nvPr/>
      </p:nvGrpSpPr>
      <p:grpSpPr>
        <a:xfrm>
          <a:off x="0" y="0"/>
          <a:ext cx="0" cy="0"/>
          <a:chOff x="0" y="0"/>
          <a:chExt cx="0" cy="0"/>
        </a:xfrm>
      </p:grpSpPr>
      <p:sp>
        <p:nvSpPr>
          <p:cNvPr id="80" name="Google Shape;8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81" name="Google Shape;81;p15"/>
          <p:cNvSpPr txBox="1"/>
          <p:nvPr>
            <p:ph type="ctrTitle"/>
          </p:nvPr>
        </p:nvSpPr>
        <p:spPr>
          <a:xfrm>
            <a:off x="471000" y="1858350"/>
            <a:ext cx="8202000" cy="142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ja" sz="2380">
                <a:solidFill>
                  <a:srgbClr val="434343"/>
                </a:solidFill>
              </a:rPr>
              <a:t>こんなに良い事業で スライドのデザインも悪くない</a:t>
            </a:r>
            <a:endParaRPr b="1" sz="2380">
              <a:solidFill>
                <a:srgbClr val="434343"/>
              </a:solidFill>
            </a:endParaRPr>
          </a:p>
          <a:p>
            <a:pPr indent="0" lvl="0" marL="0" rtl="0" algn="ctr">
              <a:spcBef>
                <a:spcPts val="0"/>
              </a:spcBef>
              <a:spcAft>
                <a:spcPts val="0"/>
              </a:spcAft>
              <a:buSzPts val="990"/>
              <a:buNone/>
            </a:pPr>
            <a:r>
              <a:t/>
            </a:r>
            <a:endParaRPr b="1" sz="2380">
              <a:solidFill>
                <a:srgbClr val="434343"/>
              </a:solidFill>
            </a:endParaRPr>
          </a:p>
          <a:p>
            <a:pPr indent="0" lvl="0" marL="0" rtl="0" algn="ctr">
              <a:spcBef>
                <a:spcPts val="0"/>
              </a:spcBef>
              <a:spcAft>
                <a:spcPts val="0"/>
              </a:spcAft>
              <a:buSzPts val="990"/>
              <a:buNone/>
            </a:pPr>
            <a:r>
              <a:rPr b="1" lang="ja" sz="2380">
                <a:solidFill>
                  <a:srgbClr val="434343"/>
                </a:solidFill>
              </a:rPr>
              <a:t>なのになぜ伝わっていないの？何とかしたい</a:t>
            </a:r>
            <a:r>
              <a:rPr b="1" lang="ja" sz="2580">
                <a:solidFill>
                  <a:srgbClr val="434343"/>
                </a:solidFill>
              </a:rPr>
              <a:t>🔥🔥🔥</a:t>
            </a:r>
            <a:endParaRPr sz="2580">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85" name="Shape 85"/>
        <p:cNvGrpSpPr/>
        <p:nvPr/>
      </p:nvGrpSpPr>
      <p:grpSpPr>
        <a:xfrm>
          <a:off x="0" y="0"/>
          <a:ext cx="0" cy="0"/>
          <a:chOff x="0" y="0"/>
          <a:chExt cx="0" cy="0"/>
        </a:xfrm>
      </p:grpSpPr>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87" name="Google Shape;87;p16"/>
          <p:cNvSpPr txBox="1"/>
          <p:nvPr>
            <p:ph type="ctrTitle"/>
          </p:nvPr>
        </p:nvSpPr>
        <p:spPr>
          <a:xfrm>
            <a:off x="600700" y="1563150"/>
            <a:ext cx="82020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 提案する</a:t>
            </a:r>
            <a:r>
              <a:rPr b="1" lang="ja" sz="1979">
                <a:solidFill>
                  <a:srgbClr val="193970"/>
                </a:solidFill>
              </a:rPr>
              <a:t>サービス内容</a:t>
            </a:r>
            <a:r>
              <a:rPr lang="ja" sz="1979">
                <a:solidFill>
                  <a:srgbClr val="193970"/>
                </a:solidFill>
              </a:rPr>
              <a:t>に魅力を感じない</a:t>
            </a:r>
            <a:endParaRPr sz="1979">
              <a:solidFill>
                <a:srgbClr val="193970"/>
              </a:solidFill>
            </a:endParaRPr>
          </a:p>
        </p:txBody>
      </p:sp>
      <p:sp>
        <p:nvSpPr>
          <p:cNvPr id="88" name="Google Shape;88;p16"/>
          <p:cNvSpPr txBox="1"/>
          <p:nvPr>
            <p:ph type="ctrTitle"/>
          </p:nvPr>
        </p:nvSpPr>
        <p:spPr>
          <a:xfrm>
            <a:off x="260663" y="5047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選考に通らない理由</a:t>
            </a:r>
            <a:endParaRPr b="1" sz="2480">
              <a:solidFill>
                <a:srgbClr val="193970"/>
              </a:solidFill>
            </a:endParaRPr>
          </a:p>
        </p:txBody>
      </p:sp>
      <p:sp>
        <p:nvSpPr>
          <p:cNvPr id="89" name="Google Shape;89;p16"/>
          <p:cNvSpPr txBox="1"/>
          <p:nvPr>
            <p:ph type="ctrTitle"/>
          </p:nvPr>
        </p:nvSpPr>
        <p:spPr>
          <a:xfrm>
            <a:off x="600700" y="2069189"/>
            <a:ext cx="82020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a:t>
            </a:r>
            <a:r>
              <a:rPr lang="ja" sz="1979">
                <a:solidFill>
                  <a:srgbClr val="193970"/>
                </a:solidFill>
              </a:rPr>
              <a:t> </a:t>
            </a:r>
            <a:r>
              <a:rPr b="1" lang="ja" sz="1979">
                <a:solidFill>
                  <a:srgbClr val="193970"/>
                </a:solidFill>
              </a:rPr>
              <a:t>課題の解像度</a:t>
            </a:r>
            <a:r>
              <a:rPr lang="ja" sz="1979">
                <a:solidFill>
                  <a:srgbClr val="193970"/>
                </a:solidFill>
              </a:rPr>
              <a:t>が低い</a:t>
            </a:r>
            <a:endParaRPr sz="1979">
              <a:solidFill>
                <a:srgbClr val="193970"/>
              </a:solidFill>
            </a:endParaRPr>
          </a:p>
        </p:txBody>
      </p:sp>
      <p:sp>
        <p:nvSpPr>
          <p:cNvPr id="90" name="Google Shape;90;p16"/>
          <p:cNvSpPr txBox="1"/>
          <p:nvPr>
            <p:ph type="ctrTitle"/>
          </p:nvPr>
        </p:nvSpPr>
        <p:spPr>
          <a:xfrm>
            <a:off x="600700" y="2575229"/>
            <a:ext cx="82020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 </a:t>
            </a:r>
            <a:r>
              <a:rPr b="1" lang="ja" sz="1979">
                <a:solidFill>
                  <a:srgbClr val="193970"/>
                </a:solidFill>
              </a:rPr>
              <a:t>解決策に独自性</a:t>
            </a:r>
            <a:r>
              <a:rPr lang="ja" sz="1979">
                <a:solidFill>
                  <a:srgbClr val="193970"/>
                </a:solidFill>
              </a:rPr>
              <a:t>がない</a:t>
            </a:r>
            <a:endParaRPr sz="1979">
              <a:solidFill>
                <a:srgbClr val="193970"/>
              </a:solidFill>
            </a:endParaRPr>
          </a:p>
        </p:txBody>
      </p:sp>
      <p:sp>
        <p:nvSpPr>
          <p:cNvPr id="91" name="Google Shape;91;p16"/>
          <p:cNvSpPr txBox="1"/>
          <p:nvPr>
            <p:ph type="ctrTitle"/>
          </p:nvPr>
        </p:nvSpPr>
        <p:spPr>
          <a:xfrm>
            <a:off x="600700" y="3081268"/>
            <a:ext cx="82020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a:t>
            </a:r>
            <a:r>
              <a:rPr lang="ja" sz="1979">
                <a:solidFill>
                  <a:srgbClr val="193970"/>
                </a:solidFill>
              </a:rPr>
              <a:t> </a:t>
            </a:r>
            <a:r>
              <a:rPr b="1" lang="ja" sz="1979">
                <a:solidFill>
                  <a:srgbClr val="193970"/>
                </a:solidFill>
              </a:rPr>
              <a:t>競合優位性</a:t>
            </a:r>
            <a:r>
              <a:rPr lang="ja" sz="1979">
                <a:solidFill>
                  <a:srgbClr val="193970"/>
                </a:solidFill>
              </a:rPr>
              <a:t>が弱い</a:t>
            </a:r>
            <a:endParaRPr sz="1979">
              <a:solidFill>
                <a:srgbClr val="193970"/>
              </a:solidFill>
            </a:endParaRPr>
          </a:p>
        </p:txBody>
      </p:sp>
      <p:sp>
        <p:nvSpPr>
          <p:cNvPr id="92" name="Google Shape;92;p16"/>
          <p:cNvSpPr txBox="1"/>
          <p:nvPr>
            <p:ph type="ctrTitle"/>
          </p:nvPr>
        </p:nvSpPr>
        <p:spPr>
          <a:xfrm>
            <a:off x="600700" y="4093350"/>
            <a:ext cx="3971400" cy="105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　　　　・</a:t>
            </a:r>
            <a:endParaRPr sz="1979">
              <a:solidFill>
                <a:srgbClr val="193970"/>
              </a:solidFill>
            </a:endParaRPr>
          </a:p>
          <a:p>
            <a:pPr indent="0" lvl="0" marL="0" rtl="0" algn="l">
              <a:spcBef>
                <a:spcPts val="0"/>
              </a:spcBef>
              <a:spcAft>
                <a:spcPts val="0"/>
              </a:spcAft>
              <a:buSzPts val="990"/>
              <a:buNone/>
            </a:pPr>
            <a:r>
              <a:rPr lang="ja" sz="1979">
                <a:solidFill>
                  <a:srgbClr val="193970"/>
                </a:solidFill>
              </a:rPr>
              <a:t>　　　　・</a:t>
            </a:r>
            <a:endParaRPr sz="1979">
              <a:solidFill>
                <a:srgbClr val="193970"/>
              </a:solidFill>
            </a:endParaRPr>
          </a:p>
          <a:p>
            <a:pPr indent="0" lvl="0" marL="0" rtl="0" algn="l">
              <a:spcBef>
                <a:spcPts val="0"/>
              </a:spcBef>
              <a:spcAft>
                <a:spcPts val="0"/>
              </a:spcAft>
              <a:buSzPts val="990"/>
              <a:buNone/>
            </a:pPr>
            <a:r>
              <a:rPr lang="ja" sz="1979">
                <a:solidFill>
                  <a:srgbClr val="193970"/>
                </a:solidFill>
              </a:rPr>
              <a:t>　　　　・</a:t>
            </a:r>
            <a:endParaRPr sz="1979">
              <a:solidFill>
                <a:srgbClr val="193970"/>
              </a:solidFill>
            </a:endParaRPr>
          </a:p>
        </p:txBody>
      </p:sp>
      <p:sp>
        <p:nvSpPr>
          <p:cNvPr id="93" name="Google Shape;93;p16"/>
          <p:cNvSpPr txBox="1"/>
          <p:nvPr>
            <p:ph type="ctrTitle"/>
          </p:nvPr>
        </p:nvSpPr>
        <p:spPr>
          <a:xfrm>
            <a:off x="600700" y="3587308"/>
            <a:ext cx="82020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 </a:t>
            </a:r>
            <a:r>
              <a:rPr b="1" lang="ja" sz="1979">
                <a:solidFill>
                  <a:srgbClr val="193970"/>
                </a:solidFill>
              </a:rPr>
              <a:t>提案する人物</a:t>
            </a:r>
            <a:r>
              <a:rPr lang="ja" sz="1979">
                <a:solidFill>
                  <a:srgbClr val="193970"/>
                </a:solidFill>
              </a:rPr>
              <a:t>に魅力を感じない</a:t>
            </a:r>
            <a:endParaRPr sz="1979">
              <a:solidFill>
                <a:srgbClr val="19397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97" name="Shape 97"/>
        <p:cNvGrpSpPr/>
        <p:nvPr/>
      </p:nvGrpSpPr>
      <p:grpSpPr>
        <a:xfrm>
          <a:off x="0" y="0"/>
          <a:ext cx="0" cy="0"/>
          <a:chOff x="0" y="0"/>
          <a:chExt cx="0" cy="0"/>
        </a:xfrm>
      </p:grpSpPr>
      <p:sp>
        <p:nvSpPr>
          <p:cNvPr id="98" name="Google Shape;9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99" name="Google Shape;99;p17"/>
          <p:cNvSpPr txBox="1"/>
          <p:nvPr>
            <p:ph type="ctrTitle"/>
          </p:nvPr>
        </p:nvSpPr>
        <p:spPr>
          <a:xfrm>
            <a:off x="600700" y="1563150"/>
            <a:ext cx="53862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 提案する</a:t>
            </a:r>
            <a:r>
              <a:rPr b="1" lang="ja" sz="1979">
                <a:solidFill>
                  <a:srgbClr val="999999"/>
                </a:solidFill>
              </a:rPr>
              <a:t>サービス内容</a:t>
            </a:r>
            <a:r>
              <a:rPr lang="ja" sz="1979">
                <a:solidFill>
                  <a:srgbClr val="999999"/>
                </a:solidFill>
              </a:rPr>
              <a:t>に魅力を感じない</a:t>
            </a:r>
            <a:endParaRPr sz="1979">
              <a:solidFill>
                <a:srgbClr val="999999"/>
              </a:solidFill>
            </a:endParaRPr>
          </a:p>
        </p:txBody>
      </p:sp>
      <p:sp>
        <p:nvSpPr>
          <p:cNvPr id="100" name="Google Shape;100;p17"/>
          <p:cNvSpPr txBox="1"/>
          <p:nvPr>
            <p:ph type="ctrTitle"/>
          </p:nvPr>
        </p:nvSpPr>
        <p:spPr>
          <a:xfrm>
            <a:off x="260663" y="5047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選考に通らない理由</a:t>
            </a:r>
            <a:endParaRPr b="1" sz="2480">
              <a:solidFill>
                <a:srgbClr val="193970"/>
              </a:solidFill>
            </a:endParaRPr>
          </a:p>
        </p:txBody>
      </p:sp>
      <p:sp>
        <p:nvSpPr>
          <p:cNvPr id="101" name="Google Shape;101;p17"/>
          <p:cNvSpPr txBox="1"/>
          <p:nvPr>
            <p:ph type="ctrTitle"/>
          </p:nvPr>
        </p:nvSpPr>
        <p:spPr>
          <a:xfrm>
            <a:off x="600700" y="2069190"/>
            <a:ext cx="53862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a:t>
            </a:r>
            <a:r>
              <a:rPr lang="ja" sz="1979">
                <a:solidFill>
                  <a:srgbClr val="999999"/>
                </a:solidFill>
              </a:rPr>
              <a:t> </a:t>
            </a:r>
            <a:r>
              <a:rPr b="1" lang="ja" sz="1979">
                <a:solidFill>
                  <a:srgbClr val="999999"/>
                </a:solidFill>
              </a:rPr>
              <a:t>課題の解像度</a:t>
            </a:r>
            <a:r>
              <a:rPr lang="ja" sz="1979">
                <a:solidFill>
                  <a:srgbClr val="999999"/>
                </a:solidFill>
              </a:rPr>
              <a:t>が低い</a:t>
            </a:r>
            <a:endParaRPr sz="1979">
              <a:solidFill>
                <a:srgbClr val="999999"/>
              </a:solidFill>
            </a:endParaRPr>
          </a:p>
        </p:txBody>
      </p:sp>
      <p:sp>
        <p:nvSpPr>
          <p:cNvPr id="102" name="Google Shape;102;p17"/>
          <p:cNvSpPr txBox="1"/>
          <p:nvPr>
            <p:ph type="ctrTitle"/>
          </p:nvPr>
        </p:nvSpPr>
        <p:spPr>
          <a:xfrm>
            <a:off x="600700" y="2575230"/>
            <a:ext cx="53862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 </a:t>
            </a:r>
            <a:r>
              <a:rPr b="1" lang="ja" sz="1979">
                <a:solidFill>
                  <a:srgbClr val="999999"/>
                </a:solidFill>
              </a:rPr>
              <a:t>解決策に独自性</a:t>
            </a:r>
            <a:r>
              <a:rPr lang="ja" sz="1979">
                <a:solidFill>
                  <a:srgbClr val="999999"/>
                </a:solidFill>
              </a:rPr>
              <a:t>がない</a:t>
            </a:r>
            <a:endParaRPr sz="1979">
              <a:solidFill>
                <a:srgbClr val="999999"/>
              </a:solidFill>
            </a:endParaRPr>
          </a:p>
        </p:txBody>
      </p:sp>
      <p:sp>
        <p:nvSpPr>
          <p:cNvPr id="103" name="Google Shape;103;p17"/>
          <p:cNvSpPr txBox="1"/>
          <p:nvPr>
            <p:ph type="ctrTitle"/>
          </p:nvPr>
        </p:nvSpPr>
        <p:spPr>
          <a:xfrm>
            <a:off x="600700" y="3081270"/>
            <a:ext cx="53862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a:t>
            </a:r>
            <a:r>
              <a:rPr lang="ja" sz="1979">
                <a:solidFill>
                  <a:srgbClr val="999999"/>
                </a:solidFill>
              </a:rPr>
              <a:t> </a:t>
            </a:r>
            <a:r>
              <a:rPr b="1" lang="ja" sz="1979">
                <a:solidFill>
                  <a:srgbClr val="999999"/>
                </a:solidFill>
              </a:rPr>
              <a:t>競合優位性</a:t>
            </a:r>
            <a:r>
              <a:rPr lang="ja" sz="1979">
                <a:solidFill>
                  <a:srgbClr val="999999"/>
                </a:solidFill>
              </a:rPr>
              <a:t>が弱い</a:t>
            </a:r>
            <a:endParaRPr sz="1979">
              <a:solidFill>
                <a:srgbClr val="999999"/>
              </a:solidFill>
            </a:endParaRPr>
          </a:p>
        </p:txBody>
      </p:sp>
      <p:sp>
        <p:nvSpPr>
          <p:cNvPr id="104" name="Google Shape;104;p17"/>
          <p:cNvSpPr txBox="1"/>
          <p:nvPr>
            <p:ph type="ctrTitle"/>
          </p:nvPr>
        </p:nvSpPr>
        <p:spPr>
          <a:xfrm>
            <a:off x="600700" y="3587310"/>
            <a:ext cx="5386200" cy="5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 </a:t>
            </a:r>
            <a:r>
              <a:rPr b="1" lang="ja" sz="1979">
                <a:solidFill>
                  <a:srgbClr val="999999"/>
                </a:solidFill>
              </a:rPr>
              <a:t>提案する人物</a:t>
            </a:r>
            <a:r>
              <a:rPr lang="ja" sz="1979">
                <a:solidFill>
                  <a:srgbClr val="999999"/>
                </a:solidFill>
              </a:rPr>
              <a:t>に魅力を感じない</a:t>
            </a:r>
            <a:endParaRPr sz="1979">
              <a:solidFill>
                <a:srgbClr val="999999"/>
              </a:solidFill>
            </a:endParaRPr>
          </a:p>
        </p:txBody>
      </p:sp>
      <p:sp>
        <p:nvSpPr>
          <p:cNvPr id="105" name="Google Shape;105;p17"/>
          <p:cNvSpPr txBox="1"/>
          <p:nvPr>
            <p:ph type="ctrTitle"/>
          </p:nvPr>
        </p:nvSpPr>
        <p:spPr>
          <a:xfrm>
            <a:off x="600700" y="980925"/>
            <a:ext cx="5118600" cy="522600"/>
          </a:xfrm>
          <a:prstGeom prst="rect">
            <a:avLst/>
          </a:prstGeom>
          <a:ln cap="flat" cmpd="sng" w="38100">
            <a:solidFill>
              <a:srgbClr val="FDCF6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080">
                <a:solidFill>
                  <a:srgbClr val="193970"/>
                </a:solidFill>
              </a:rPr>
              <a:t>🙅‍♀️</a:t>
            </a:r>
            <a:r>
              <a:rPr lang="ja" sz="1979">
                <a:solidFill>
                  <a:srgbClr val="193970"/>
                </a:solidFill>
              </a:rPr>
              <a:t> </a:t>
            </a:r>
            <a:r>
              <a:rPr b="1" lang="ja" sz="1979">
                <a:solidFill>
                  <a:srgbClr val="193970"/>
                </a:solidFill>
              </a:rPr>
              <a:t>審査員の知りたい情報が伝わっていない</a:t>
            </a:r>
            <a:endParaRPr b="1" sz="1979">
              <a:solidFill>
                <a:srgbClr val="193970"/>
              </a:solidFill>
            </a:endParaRPr>
          </a:p>
        </p:txBody>
      </p:sp>
      <p:sp>
        <p:nvSpPr>
          <p:cNvPr id="106" name="Google Shape;106;p17"/>
          <p:cNvSpPr txBox="1"/>
          <p:nvPr>
            <p:ph type="ctrTitle"/>
          </p:nvPr>
        </p:nvSpPr>
        <p:spPr>
          <a:xfrm>
            <a:off x="600700" y="4093350"/>
            <a:ext cx="3971400" cy="105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79">
                <a:solidFill>
                  <a:srgbClr val="999999"/>
                </a:solidFill>
              </a:rPr>
              <a:t>　　　　・</a:t>
            </a:r>
            <a:endParaRPr sz="1979">
              <a:solidFill>
                <a:srgbClr val="999999"/>
              </a:solidFill>
            </a:endParaRPr>
          </a:p>
          <a:p>
            <a:pPr indent="0" lvl="0" marL="0" rtl="0" algn="l">
              <a:spcBef>
                <a:spcPts val="0"/>
              </a:spcBef>
              <a:spcAft>
                <a:spcPts val="0"/>
              </a:spcAft>
              <a:buSzPts val="990"/>
              <a:buNone/>
            </a:pPr>
            <a:r>
              <a:rPr lang="ja" sz="1979">
                <a:solidFill>
                  <a:srgbClr val="999999"/>
                </a:solidFill>
              </a:rPr>
              <a:t>　　　　・</a:t>
            </a:r>
            <a:endParaRPr sz="1979">
              <a:solidFill>
                <a:srgbClr val="999999"/>
              </a:solidFill>
            </a:endParaRPr>
          </a:p>
          <a:p>
            <a:pPr indent="0" lvl="0" marL="0" rtl="0" algn="l">
              <a:spcBef>
                <a:spcPts val="0"/>
              </a:spcBef>
              <a:spcAft>
                <a:spcPts val="0"/>
              </a:spcAft>
              <a:buSzPts val="990"/>
              <a:buNone/>
            </a:pPr>
            <a:r>
              <a:rPr lang="ja" sz="1979">
                <a:solidFill>
                  <a:srgbClr val="999999"/>
                </a:solidFill>
              </a:rPr>
              <a:t>　　　　・</a:t>
            </a:r>
            <a:endParaRPr sz="1979">
              <a:solidFill>
                <a:srgbClr val="99999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CF60"/>
        </a:solidFill>
      </p:bgPr>
    </p:bg>
    <p:spTree>
      <p:nvGrpSpPr>
        <p:cNvPr id="110" name="Shape 110"/>
        <p:cNvGrpSpPr/>
        <p:nvPr/>
      </p:nvGrpSpPr>
      <p:grpSpPr>
        <a:xfrm>
          <a:off x="0" y="0"/>
          <a:ext cx="0" cy="0"/>
          <a:chOff x="0" y="0"/>
          <a:chExt cx="0" cy="0"/>
        </a:xfrm>
      </p:grpSpPr>
      <p:sp>
        <p:nvSpPr>
          <p:cNvPr id="111" name="Google Shape;11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12" name="Google Shape;112;p18"/>
          <p:cNvSpPr txBox="1"/>
          <p:nvPr>
            <p:ph type="ctrTitle"/>
          </p:nvPr>
        </p:nvSpPr>
        <p:spPr>
          <a:xfrm>
            <a:off x="235500" y="2254950"/>
            <a:ext cx="8673000" cy="6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ja" sz="2380">
                <a:solidFill>
                  <a:srgbClr val="434343"/>
                </a:solidFill>
              </a:rPr>
              <a:t>相手が知りたい情報って？</a:t>
            </a:r>
            <a:endParaRPr b="1" sz="2380">
              <a:solidFill>
                <a:srgbClr val="43434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16" name="Shape 116"/>
        <p:cNvGrpSpPr/>
        <p:nvPr/>
      </p:nvGrpSpPr>
      <p:grpSpPr>
        <a:xfrm>
          <a:off x="0" y="0"/>
          <a:ext cx="0" cy="0"/>
          <a:chOff x="0" y="0"/>
          <a:chExt cx="0" cy="0"/>
        </a:xfrm>
      </p:grpSpPr>
      <p:sp>
        <p:nvSpPr>
          <p:cNvPr id="117" name="Google Shape;11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18" name="Google Shape;118;p19" title="ver5.mp4">
            <a:hlinkClick r:id="rId3"/>
          </p:cNvPr>
          <p:cNvPicPr preferRelativeResize="0"/>
          <p:nvPr/>
        </p:nvPicPr>
        <p:blipFill>
          <a:blip r:embed="rId4">
            <a:alphaModFix/>
          </a:blip>
          <a:stretch>
            <a:fillRect/>
          </a:stretch>
        </p:blipFill>
        <p:spPr>
          <a:xfrm>
            <a:off x="1244600" y="0"/>
            <a:ext cx="66548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22" name="Shape 122"/>
        <p:cNvGrpSpPr/>
        <p:nvPr/>
      </p:nvGrpSpPr>
      <p:grpSpPr>
        <a:xfrm>
          <a:off x="0" y="0"/>
          <a:ext cx="0" cy="0"/>
          <a:chOff x="0" y="0"/>
          <a:chExt cx="0" cy="0"/>
        </a:xfrm>
      </p:grpSpPr>
      <p:sp>
        <p:nvSpPr>
          <p:cNvPr id="123" name="Google Shape;12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24" name="Google Shape;124;p20"/>
          <p:cNvSpPr/>
          <p:nvPr/>
        </p:nvSpPr>
        <p:spPr>
          <a:xfrm>
            <a:off x="0" y="2106525"/>
            <a:ext cx="9144000" cy="927900"/>
          </a:xfrm>
          <a:prstGeom prst="rect">
            <a:avLst/>
          </a:prstGeom>
          <a:solidFill>
            <a:srgbClr val="FDCF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2300">
                <a:solidFill>
                  <a:srgbClr val="193970"/>
                </a:solidFill>
              </a:rPr>
              <a:t>相手が知りたい情報が分かる！</a:t>
            </a:r>
            <a:endParaRPr b="1" sz="2300">
              <a:solidFill>
                <a:srgbClr val="19397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28" name="Shape 128"/>
        <p:cNvGrpSpPr/>
        <p:nvPr/>
      </p:nvGrpSpPr>
      <p:grpSpPr>
        <a:xfrm>
          <a:off x="0" y="0"/>
          <a:ext cx="0" cy="0"/>
          <a:chOff x="0" y="0"/>
          <a:chExt cx="0" cy="0"/>
        </a:xfrm>
      </p:grpSpPr>
      <p:sp>
        <p:nvSpPr>
          <p:cNvPr id="129" name="Google Shape;129;p21"/>
          <p:cNvSpPr/>
          <p:nvPr/>
        </p:nvSpPr>
        <p:spPr>
          <a:xfrm>
            <a:off x="7447325" y="2005050"/>
            <a:ext cx="1544400" cy="1133400"/>
          </a:xfrm>
          <a:prstGeom prst="roundRect">
            <a:avLst>
              <a:gd fmla="val 16667" name="adj"/>
            </a:avLst>
          </a:prstGeom>
          <a:solidFill>
            <a:srgbClr val="FFFFFF">
              <a:alpha val="87420"/>
            </a:srgbClr>
          </a:solidFill>
          <a:ln cap="flat" cmpd="sng" w="1905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1"/>
          <p:cNvSpPr/>
          <p:nvPr/>
        </p:nvSpPr>
        <p:spPr>
          <a:xfrm>
            <a:off x="2570350" y="1813550"/>
            <a:ext cx="4346700" cy="2004600"/>
          </a:xfrm>
          <a:prstGeom prst="roundRect">
            <a:avLst>
              <a:gd fmla="val 16667" name="adj"/>
            </a:avLst>
          </a:prstGeom>
          <a:solidFill>
            <a:srgbClr val="FFFFFF">
              <a:alpha val="87420"/>
            </a:srgbClr>
          </a:solidFill>
          <a:ln cap="flat" cmpd="sng" w="1905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1"/>
          <p:cNvSpPr/>
          <p:nvPr/>
        </p:nvSpPr>
        <p:spPr>
          <a:xfrm>
            <a:off x="198625" y="1813550"/>
            <a:ext cx="1689300" cy="1133400"/>
          </a:xfrm>
          <a:prstGeom prst="roundRect">
            <a:avLst>
              <a:gd fmla="val 16667" name="adj"/>
            </a:avLst>
          </a:prstGeom>
          <a:solidFill>
            <a:srgbClr val="FFFFFF">
              <a:alpha val="87420"/>
            </a:srgbClr>
          </a:solidFill>
          <a:ln cap="flat" cmpd="sng" w="1905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133" name="Google Shape;133;p21"/>
          <p:cNvPicPr preferRelativeResize="0"/>
          <p:nvPr/>
        </p:nvPicPr>
        <p:blipFill rotWithShape="1">
          <a:blip r:embed="rId3">
            <a:alphaModFix/>
          </a:blip>
          <a:srcRect b="10438" l="8800" r="8800" t="10422"/>
          <a:stretch/>
        </p:blipFill>
        <p:spPr>
          <a:xfrm>
            <a:off x="2758850" y="2027777"/>
            <a:ext cx="1135993" cy="393600"/>
          </a:xfrm>
          <a:prstGeom prst="rect">
            <a:avLst/>
          </a:prstGeom>
          <a:noFill/>
          <a:ln>
            <a:noFill/>
          </a:ln>
        </p:spPr>
      </p:pic>
      <p:pic>
        <p:nvPicPr>
          <p:cNvPr id="134" name="Google Shape;134;p21"/>
          <p:cNvPicPr preferRelativeResize="0"/>
          <p:nvPr/>
        </p:nvPicPr>
        <p:blipFill rotWithShape="1">
          <a:blip r:embed="rId4">
            <a:alphaModFix/>
          </a:blip>
          <a:srcRect b="22142" l="24349" r="24559" t="39369"/>
          <a:stretch/>
        </p:blipFill>
        <p:spPr>
          <a:xfrm>
            <a:off x="5817821" y="2128288"/>
            <a:ext cx="994879" cy="393599"/>
          </a:xfrm>
          <a:prstGeom prst="rect">
            <a:avLst/>
          </a:prstGeom>
          <a:noFill/>
          <a:ln>
            <a:noFill/>
          </a:ln>
        </p:spPr>
      </p:pic>
      <p:sp>
        <p:nvSpPr>
          <p:cNvPr id="135" name="Google Shape;135;p21"/>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使用技術</a:t>
            </a:r>
            <a:endParaRPr b="1" sz="2480">
              <a:solidFill>
                <a:srgbClr val="193970"/>
              </a:solidFill>
            </a:endParaRPr>
          </a:p>
        </p:txBody>
      </p:sp>
      <p:sp>
        <p:nvSpPr>
          <p:cNvPr id="136" name="Google Shape;136;p21"/>
          <p:cNvSpPr txBox="1"/>
          <p:nvPr>
            <p:ph type="ctrTitle"/>
          </p:nvPr>
        </p:nvSpPr>
        <p:spPr>
          <a:xfrm>
            <a:off x="531272" y="1388138"/>
            <a:ext cx="10878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600">
                <a:solidFill>
                  <a:srgbClr val="193970"/>
                </a:solidFill>
              </a:rPr>
              <a:t>FrontEnd</a:t>
            </a:r>
            <a:endParaRPr b="1" sz="1600">
              <a:solidFill>
                <a:srgbClr val="193970"/>
              </a:solidFill>
            </a:endParaRPr>
          </a:p>
        </p:txBody>
      </p:sp>
      <p:sp>
        <p:nvSpPr>
          <p:cNvPr id="137" name="Google Shape;137;p21"/>
          <p:cNvSpPr txBox="1"/>
          <p:nvPr>
            <p:ph type="ctrTitle"/>
          </p:nvPr>
        </p:nvSpPr>
        <p:spPr>
          <a:xfrm>
            <a:off x="4210697" y="1388138"/>
            <a:ext cx="10878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600">
                <a:solidFill>
                  <a:srgbClr val="193970"/>
                </a:solidFill>
              </a:rPr>
              <a:t>BackEnd</a:t>
            </a:r>
            <a:endParaRPr b="1" sz="1600">
              <a:solidFill>
                <a:srgbClr val="193970"/>
              </a:solidFill>
            </a:endParaRPr>
          </a:p>
        </p:txBody>
      </p:sp>
      <p:cxnSp>
        <p:nvCxnSpPr>
          <p:cNvPr id="138" name="Google Shape;138;p21"/>
          <p:cNvCxnSpPr/>
          <p:nvPr/>
        </p:nvCxnSpPr>
        <p:spPr>
          <a:xfrm>
            <a:off x="1916425" y="2165975"/>
            <a:ext cx="579600" cy="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1"/>
          <p:cNvCxnSpPr/>
          <p:nvPr/>
        </p:nvCxnSpPr>
        <p:spPr>
          <a:xfrm rot="10800000">
            <a:off x="1923025" y="2718425"/>
            <a:ext cx="586200" cy="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p21"/>
          <p:cNvSpPr txBox="1"/>
          <p:nvPr>
            <p:ph type="ctrTitle"/>
          </p:nvPr>
        </p:nvSpPr>
        <p:spPr>
          <a:xfrm>
            <a:off x="7599900" y="3253850"/>
            <a:ext cx="12642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200">
                <a:solidFill>
                  <a:srgbClr val="193970"/>
                </a:solidFill>
              </a:rPr>
              <a:t>・内容分析し</a:t>
            </a:r>
            <a:endParaRPr b="1" sz="1200">
              <a:solidFill>
                <a:srgbClr val="193970"/>
              </a:solidFill>
            </a:endParaRPr>
          </a:p>
          <a:p>
            <a:pPr indent="0" lvl="0" marL="0" rtl="0" algn="l">
              <a:spcBef>
                <a:spcPts val="0"/>
              </a:spcBef>
              <a:spcAft>
                <a:spcPts val="0"/>
              </a:spcAft>
              <a:buSzPts val="990"/>
              <a:buNone/>
            </a:pPr>
            <a:r>
              <a:rPr b="1" lang="ja" sz="1200">
                <a:solidFill>
                  <a:srgbClr val="193970"/>
                </a:solidFill>
              </a:rPr>
              <a:t>分析結果を生成</a:t>
            </a:r>
            <a:endParaRPr b="1" sz="1200">
              <a:solidFill>
                <a:srgbClr val="193970"/>
              </a:solidFill>
            </a:endParaRPr>
          </a:p>
        </p:txBody>
      </p:sp>
      <p:cxnSp>
        <p:nvCxnSpPr>
          <p:cNvPr id="141" name="Google Shape;141;p21"/>
          <p:cNvCxnSpPr/>
          <p:nvPr/>
        </p:nvCxnSpPr>
        <p:spPr>
          <a:xfrm>
            <a:off x="5183899" y="2192775"/>
            <a:ext cx="592800" cy="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21"/>
          <p:cNvCxnSpPr/>
          <p:nvPr/>
        </p:nvCxnSpPr>
        <p:spPr>
          <a:xfrm rot="10800000">
            <a:off x="5172825" y="2401300"/>
            <a:ext cx="615000" cy="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p21"/>
          <p:cNvCxnSpPr/>
          <p:nvPr/>
        </p:nvCxnSpPr>
        <p:spPr>
          <a:xfrm>
            <a:off x="7000113" y="2478525"/>
            <a:ext cx="364200" cy="0"/>
          </a:xfrm>
          <a:prstGeom prst="straightConnector1">
            <a:avLst/>
          </a:prstGeom>
          <a:noFill/>
          <a:ln cap="flat" cmpd="sng" w="9525">
            <a:solidFill>
              <a:schemeClr val="dk2"/>
            </a:solidFill>
            <a:prstDash val="solid"/>
            <a:round/>
            <a:headEnd len="med" w="med" type="none"/>
            <a:tailEnd len="med" w="med" type="triangle"/>
          </a:ln>
        </p:spPr>
      </p:cxnSp>
      <p:cxnSp>
        <p:nvCxnSpPr>
          <p:cNvPr id="144" name="Google Shape;144;p21"/>
          <p:cNvCxnSpPr/>
          <p:nvPr/>
        </p:nvCxnSpPr>
        <p:spPr>
          <a:xfrm rot="10800000">
            <a:off x="6993425" y="2687050"/>
            <a:ext cx="377700" cy="0"/>
          </a:xfrm>
          <a:prstGeom prst="straightConnector1">
            <a:avLst/>
          </a:prstGeom>
          <a:noFill/>
          <a:ln cap="flat" cmpd="sng" w="9525">
            <a:solidFill>
              <a:schemeClr val="dk2"/>
            </a:solidFill>
            <a:prstDash val="solid"/>
            <a:round/>
            <a:headEnd len="med" w="med" type="none"/>
            <a:tailEnd len="med" w="med" type="triangle"/>
          </a:ln>
        </p:spPr>
      </p:cxnSp>
      <p:sp>
        <p:nvSpPr>
          <p:cNvPr id="145" name="Google Shape;145;p21"/>
          <p:cNvSpPr txBox="1"/>
          <p:nvPr>
            <p:ph type="ctrTitle"/>
          </p:nvPr>
        </p:nvSpPr>
        <p:spPr>
          <a:xfrm>
            <a:off x="2959453" y="3930405"/>
            <a:ext cx="19668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200">
                <a:solidFill>
                  <a:srgbClr val="193970"/>
                </a:solidFill>
              </a:rPr>
              <a:t>・スライドの内容解析</a:t>
            </a:r>
            <a:endParaRPr b="1" sz="1200">
              <a:solidFill>
                <a:srgbClr val="193970"/>
              </a:solidFill>
            </a:endParaRPr>
          </a:p>
        </p:txBody>
      </p:sp>
      <p:sp>
        <p:nvSpPr>
          <p:cNvPr id="146" name="Google Shape;146;p21"/>
          <p:cNvSpPr txBox="1"/>
          <p:nvPr>
            <p:ph type="ctrTitle"/>
          </p:nvPr>
        </p:nvSpPr>
        <p:spPr>
          <a:xfrm>
            <a:off x="0" y="3126700"/>
            <a:ext cx="2708400" cy="6732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SzPts val="990"/>
              <a:buNone/>
            </a:pPr>
            <a:r>
              <a:rPr b="1" lang="ja" sz="1200">
                <a:solidFill>
                  <a:srgbClr val="193970"/>
                </a:solidFill>
              </a:rPr>
              <a:t>・プレゼン対象など基本情報入力</a:t>
            </a:r>
            <a:endParaRPr b="1" sz="1200">
              <a:solidFill>
                <a:srgbClr val="193970"/>
              </a:solidFill>
            </a:endParaRPr>
          </a:p>
          <a:p>
            <a:pPr indent="0" lvl="0" marL="0" rtl="0" algn="l">
              <a:lnSpc>
                <a:spcPct val="150000"/>
              </a:lnSpc>
              <a:spcBef>
                <a:spcPts val="0"/>
              </a:spcBef>
              <a:spcAft>
                <a:spcPts val="0"/>
              </a:spcAft>
              <a:buSzPts val="990"/>
              <a:buNone/>
            </a:pPr>
            <a:r>
              <a:rPr b="1" lang="ja" sz="1200">
                <a:solidFill>
                  <a:srgbClr val="193970"/>
                </a:solidFill>
              </a:rPr>
              <a:t>・</a:t>
            </a:r>
            <a:r>
              <a:rPr b="1" lang="ja" sz="1200">
                <a:solidFill>
                  <a:srgbClr val="193970"/>
                </a:solidFill>
              </a:rPr>
              <a:t>スライドのアップロード</a:t>
            </a:r>
            <a:endParaRPr b="1" sz="1200">
              <a:solidFill>
                <a:srgbClr val="193970"/>
              </a:solidFill>
            </a:endParaRPr>
          </a:p>
          <a:p>
            <a:pPr indent="0" lvl="0" marL="0" rtl="0" algn="l">
              <a:lnSpc>
                <a:spcPct val="150000"/>
              </a:lnSpc>
              <a:spcBef>
                <a:spcPts val="0"/>
              </a:spcBef>
              <a:spcAft>
                <a:spcPts val="0"/>
              </a:spcAft>
              <a:buSzPts val="990"/>
              <a:buNone/>
            </a:pPr>
            <a:r>
              <a:rPr b="1" lang="ja" sz="1200">
                <a:solidFill>
                  <a:srgbClr val="193970"/>
                </a:solidFill>
              </a:rPr>
              <a:t>・分析結果の表示</a:t>
            </a:r>
            <a:endParaRPr b="1" sz="1200">
              <a:solidFill>
                <a:srgbClr val="193970"/>
              </a:solidFill>
            </a:endParaRPr>
          </a:p>
        </p:txBody>
      </p:sp>
      <p:sp>
        <p:nvSpPr>
          <p:cNvPr id="147" name="Google Shape;147;p21"/>
          <p:cNvSpPr txBox="1"/>
          <p:nvPr>
            <p:ph type="ctrTitle"/>
          </p:nvPr>
        </p:nvSpPr>
        <p:spPr>
          <a:xfrm>
            <a:off x="2959450" y="4237230"/>
            <a:ext cx="27084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1200">
                <a:solidFill>
                  <a:srgbClr val="193970"/>
                </a:solidFill>
              </a:rPr>
              <a:t>・（</a:t>
            </a:r>
            <a:r>
              <a:rPr b="1" lang="ja" sz="1200">
                <a:solidFill>
                  <a:srgbClr val="193970"/>
                </a:solidFill>
              </a:rPr>
              <a:t>プレビュー画像生成）</a:t>
            </a:r>
            <a:endParaRPr b="1" sz="1200">
              <a:solidFill>
                <a:srgbClr val="193970"/>
              </a:solidFill>
            </a:endParaRPr>
          </a:p>
        </p:txBody>
      </p:sp>
      <p:cxnSp>
        <p:nvCxnSpPr>
          <p:cNvPr id="148" name="Google Shape;148;p21"/>
          <p:cNvCxnSpPr/>
          <p:nvPr/>
        </p:nvCxnSpPr>
        <p:spPr>
          <a:xfrm rot="2700000">
            <a:off x="5096003" y="3223000"/>
            <a:ext cx="428082" cy="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21"/>
          <p:cNvCxnSpPr/>
          <p:nvPr/>
        </p:nvCxnSpPr>
        <p:spPr>
          <a:xfrm rot="-8100000">
            <a:off x="5002693" y="3308350"/>
            <a:ext cx="443780" cy="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21"/>
          <p:cNvCxnSpPr/>
          <p:nvPr/>
        </p:nvCxnSpPr>
        <p:spPr>
          <a:xfrm rot="5400000">
            <a:off x="3769725" y="3284375"/>
            <a:ext cx="330900" cy="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1"/>
          <p:cNvCxnSpPr/>
          <p:nvPr/>
        </p:nvCxnSpPr>
        <p:spPr>
          <a:xfrm rot="-5400000">
            <a:off x="3555075" y="3284345"/>
            <a:ext cx="343200" cy="0"/>
          </a:xfrm>
          <a:prstGeom prst="straightConnector1">
            <a:avLst/>
          </a:prstGeom>
          <a:noFill/>
          <a:ln cap="flat" cmpd="sng" w="9525">
            <a:solidFill>
              <a:schemeClr val="dk2"/>
            </a:solidFill>
            <a:prstDash val="solid"/>
            <a:round/>
            <a:headEnd len="med" w="med" type="none"/>
            <a:tailEnd len="med" w="med" type="triangle"/>
          </a:ln>
        </p:spPr>
      </p:cxnSp>
      <p:sp>
        <p:nvSpPr>
          <p:cNvPr id="152" name="Google Shape;152;p21"/>
          <p:cNvSpPr txBox="1"/>
          <p:nvPr>
            <p:ph type="ctrTitle"/>
          </p:nvPr>
        </p:nvSpPr>
        <p:spPr>
          <a:xfrm>
            <a:off x="3259926" y="3483551"/>
            <a:ext cx="1193700" cy="2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200">
                <a:solidFill>
                  <a:srgbClr val="193970"/>
                </a:solidFill>
                <a:latin typeface="Montserrat SemiBold"/>
                <a:ea typeface="Montserrat SemiBold"/>
                <a:cs typeface="Montserrat SemiBold"/>
                <a:sym typeface="Montserrat SemiBold"/>
              </a:rPr>
              <a:t>Python-pptx</a:t>
            </a:r>
            <a:endParaRPr sz="1200">
              <a:solidFill>
                <a:srgbClr val="193970"/>
              </a:solidFill>
              <a:latin typeface="Montserrat SemiBold"/>
              <a:ea typeface="Montserrat SemiBold"/>
              <a:cs typeface="Montserrat SemiBold"/>
              <a:sym typeface="Montserrat SemiBold"/>
            </a:endParaRPr>
          </a:p>
        </p:txBody>
      </p:sp>
      <p:pic>
        <p:nvPicPr>
          <p:cNvPr id="153" name="Google Shape;153;p21"/>
          <p:cNvPicPr preferRelativeResize="0"/>
          <p:nvPr/>
        </p:nvPicPr>
        <p:blipFill>
          <a:blip r:embed="rId5">
            <a:alphaModFix/>
          </a:blip>
          <a:stretch>
            <a:fillRect/>
          </a:stretch>
        </p:blipFill>
        <p:spPr>
          <a:xfrm>
            <a:off x="471775" y="1909613"/>
            <a:ext cx="1143000" cy="571500"/>
          </a:xfrm>
          <a:prstGeom prst="rect">
            <a:avLst/>
          </a:prstGeom>
          <a:noFill/>
          <a:ln>
            <a:noFill/>
          </a:ln>
        </p:spPr>
      </p:pic>
      <p:pic>
        <p:nvPicPr>
          <p:cNvPr id="154" name="Google Shape;154;p21"/>
          <p:cNvPicPr preferRelativeResize="0"/>
          <p:nvPr/>
        </p:nvPicPr>
        <p:blipFill>
          <a:blip r:embed="rId6">
            <a:alphaModFix/>
          </a:blip>
          <a:stretch>
            <a:fillRect/>
          </a:stretch>
        </p:blipFill>
        <p:spPr>
          <a:xfrm>
            <a:off x="615875" y="2554500"/>
            <a:ext cx="766198" cy="175459"/>
          </a:xfrm>
          <a:prstGeom prst="rect">
            <a:avLst/>
          </a:prstGeom>
          <a:noFill/>
          <a:ln>
            <a:noFill/>
          </a:ln>
        </p:spPr>
      </p:pic>
      <p:pic>
        <p:nvPicPr>
          <p:cNvPr id="155" name="Google Shape;155;p21"/>
          <p:cNvPicPr preferRelativeResize="0"/>
          <p:nvPr/>
        </p:nvPicPr>
        <p:blipFill>
          <a:blip r:embed="rId7">
            <a:alphaModFix/>
          </a:blip>
          <a:stretch>
            <a:fillRect/>
          </a:stretch>
        </p:blipFill>
        <p:spPr>
          <a:xfrm>
            <a:off x="7635425" y="2391672"/>
            <a:ext cx="1136000" cy="308403"/>
          </a:xfrm>
          <a:prstGeom prst="rect">
            <a:avLst/>
          </a:prstGeom>
          <a:noFill/>
          <a:ln>
            <a:noFill/>
          </a:ln>
        </p:spPr>
      </p:pic>
      <p:pic>
        <p:nvPicPr>
          <p:cNvPr id="156" name="Google Shape;156;p21"/>
          <p:cNvPicPr preferRelativeResize="0"/>
          <p:nvPr/>
        </p:nvPicPr>
        <p:blipFill>
          <a:blip r:embed="rId8">
            <a:alphaModFix/>
          </a:blip>
          <a:stretch>
            <a:fillRect/>
          </a:stretch>
        </p:blipFill>
        <p:spPr>
          <a:xfrm>
            <a:off x="5494273" y="3215900"/>
            <a:ext cx="1264175" cy="632098"/>
          </a:xfrm>
          <a:prstGeom prst="rect">
            <a:avLst/>
          </a:prstGeom>
          <a:noFill/>
          <a:ln>
            <a:noFill/>
          </a:ln>
        </p:spPr>
      </p:pic>
      <p:pic>
        <p:nvPicPr>
          <p:cNvPr id="157" name="Google Shape;157;p21"/>
          <p:cNvPicPr preferRelativeResize="0"/>
          <p:nvPr/>
        </p:nvPicPr>
        <p:blipFill>
          <a:blip r:embed="rId9">
            <a:alphaModFix/>
          </a:blip>
          <a:stretch>
            <a:fillRect/>
          </a:stretch>
        </p:blipFill>
        <p:spPr>
          <a:xfrm>
            <a:off x="4084152" y="1995774"/>
            <a:ext cx="994875" cy="497437"/>
          </a:xfrm>
          <a:prstGeom prst="rect">
            <a:avLst/>
          </a:prstGeom>
          <a:noFill/>
          <a:ln>
            <a:noFill/>
          </a:ln>
        </p:spPr>
      </p:pic>
      <p:pic>
        <p:nvPicPr>
          <p:cNvPr id="158" name="Google Shape;158;p21"/>
          <p:cNvPicPr preferRelativeResize="0"/>
          <p:nvPr/>
        </p:nvPicPr>
        <p:blipFill>
          <a:blip r:embed="rId10">
            <a:alphaModFix/>
          </a:blip>
          <a:stretch>
            <a:fillRect/>
          </a:stretch>
        </p:blipFill>
        <p:spPr>
          <a:xfrm>
            <a:off x="2781725" y="2606289"/>
            <a:ext cx="1193701" cy="307119"/>
          </a:xfrm>
          <a:prstGeom prst="rect">
            <a:avLst/>
          </a:prstGeom>
          <a:noFill/>
          <a:ln>
            <a:noFill/>
          </a:ln>
        </p:spPr>
      </p:pic>
      <p:pic>
        <p:nvPicPr>
          <p:cNvPr id="159" name="Google Shape;159;p21"/>
          <p:cNvPicPr preferRelativeResize="0"/>
          <p:nvPr/>
        </p:nvPicPr>
        <p:blipFill>
          <a:blip r:embed="rId11">
            <a:alphaModFix/>
          </a:blip>
          <a:stretch>
            <a:fillRect/>
          </a:stretch>
        </p:blipFill>
        <p:spPr>
          <a:xfrm>
            <a:off x="4229725" y="2558656"/>
            <a:ext cx="766201" cy="4023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63" name="Shape 163"/>
        <p:cNvGrpSpPr/>
        <p:nvPr/>
      </p:nvGrpSpPr>
      <p:grpSpPr>
        <a:xfrm>
          <a:off x="0" y="0"/>
          <a:ext cx="0" cy="0"/>
          <a:chOff x="0" y="0"/>
          <a:chExt cx="0" cy="0"/>
        </a:xfrm>
      </p:grpSpPr>
      <p:sp>
        <p:nvSpPr>
          <p:cNvPr id="164" name="Google Shape;164;p22"/>
          <p:cNvSpPr txBox="1"/>
          <p:nvPr>
            <p:ph type="ctrTitle"/>
          </p:nvPr>
        </p:nvSpPr>
        <p:spPr>
          <a:xfrm>
            <a:off x="4513151" y="1900351"/>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65" name="Google Shape;165;p22"/>
          <p:cNvSpPr txBox="1"/>
          <p:nvPr>
            <p:ph type="ctrTitle"/>
          </p:nvPr>
        </p:nvSpPr>
        <p:spPr>
          <a:xfrm>
            <a:off x="1078051" y="3828251"/>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66" name="Google Shape;166;p22"/>
          <p:cNvSpPr/>
          <p:nvPr/>
        </p:nvSpPr>
        <p:spPr>
          <a:xfrm>
            <a:off x="1630350" y="1387150"/>
            <a:ext cx="2472000" cy="2914200"/>
          </a:xfrm>
          <a:prstGeom prst="roundRect">
            <a:avLst>
              <a:gd fmla="val 5046" name="adj"/>
            </a:avLst>
          </a:prstGeom>
          <a:solidFill>
            <a:srgbClr val="FDCF60"/>
          </a:solid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2"/>
          <p:cNvSpPr txBox="1"/>
          <p:nvPr>
            <p:ph type="ctrTitle"/>
          </p:nvPr>
        </p:nvSpPr>
        <p:spPr>
          <a:xfrm>
            <a:off x="1909650" y="3026950"/>
            <a:ext cx="1913400" cy="58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080">
                <a:solidFill>
                  <a:srgbClr val="193970"/>
                </a:solidFill>
              </a:rPr>
              <a:t>毎月3回まで</a:t>
            </a:r>
            <a:endParaRPr b="1" sz="2080">
              <a:solidFill>
                <a:srgbClr val="193970"/>
              </a:solidFill>
            </a:endParaRPr>
          </a:p>
          <a:p>
            <a:pPr indent="0" lvl="0" marL="0" rtl="0" algn="ctr">
              <a:spcBef>
                <a:spcPts val="0"/>
              </a:spcBef>
              <a:spcAft>
                <a:spcPts val="0"/>
              </a:spcAft>
              <a:buSzPts val="990"/>
              <a:buNone/>
            </a:pPr>
            <a:r>
              <a:rPr b="1" lang="ja" sz="2080">
                <a:solidFill>
                  <a:srgbClr val="193970"/>
                </a:solidFill>
              </a:rPr>
              <a:t>無料</a:t>
            </a:r>
            <a:endParaRPr b="1" sz="2080">
              <a:solidFill>
                <a:srgbClr val="193970"/>
              </a:solidFill>
            </a:endParaRPr>
          </a:p>
        </p:txBody>
      </p:sp>
      <p:sp>
        <p:nvSpPr>
          <p:cNvPr id="168" name="Google Shape;168;p22"/>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ビジネスモデル </a:t>
            </a:r>
            <a:endParaRPr b="1" sz="2480">
              <a:solidFill>
                <a:srgbClr val="193970"/>
              </a:solidFill>
            </a:endParaRPr>
          </a:p>
        </p:txBody>
      </p:sp>
      <p:sp>
        <p:nvSpPr>
          <p:cNvPr id="169" name="Google Shape;169;p22"/>
          <p:cNvSpPr txBox="1"/>
          <p:nvPr>
            <p:ph type="ctrTitle"/>
          </p:nvPr>
        </p:nvSpPr>
        <p:spPr>
          <a:xfrm>
            <a:off x="1825950" y="1835250"/>
            <a:ext cx="2080800" cy="58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3280" u="sng">
                <a:solidFill>
                  <a:srgbClr val="193970"/>
                </a:solidFill>
              </a:rPr>
              <a:t>Free</a:t>
            </a:r>
            <a:endParaRPr b="1" sz="3280" u="sng">
              <a:solidFill>
                <a:srgbClr val="193970"/>
              </a:solidFill>
            </a:endParaRPr>
          </a:p>
        </p:txBody>
      </p:sp>
      <p:sp>
        <p:nvSpPr>
          <p:cNvPr id="170" name="Google Shape;170;p22"/>
          <p:cNvSpPr/>
          <p:nvPr/>
        </p:nvSpPr>
        <p:spPr>
          <a:xfrm>
            <a:off x="4889700" y="1387150"/>
            <a:ext cx="2472000" cy="2914200"/>
          </a:xfrm>
          <a:prstGeom prst="roundRect">
            <a:avLst>
              <a:gd fmla="val 5046" name="adj"/>
            </a:avLst>
          </a:prstGeom>
          <a:solidFill>
            <a:srgbClr val="FDCF60"/>
          </a:solid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2"/>
          <p:cNvSpPr txBox="1"/>
          <p:nvPr>
            <p:ph type="ctrTitle"/>
          </p:nvPr>
        </p:nvSpPr>
        <p:spPr>
          <a:xfrm>
            <a:off x="5169000" y="2809750"/>
            <a:ext cx="1913400" cy="101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1480">
                <a:solidFill>
                  <a:srgbClr val="193970"/>
                </a:solidFill>
              </a:rPr>
              <a:t>使用文字数に応じた</a:t>
            </a:r>
            <a:endParaRPr b="1" sz="1480">
              <a:solidFill>
                <a:srgbClr val="193970"/>
              </a:solidFill>
            </a:endParaRPr>
          </a:p>
          <a:p>
            <a:pPr indent="0" lvl="0" marL="0" rtl="0" algn="ctr">
              <a:spcBef>
                <a:spcPts val="0"/>
              </a:spcBef>
              <a:spcAft>
                <a:spcPts val="0"/>
              </a:spcAft>
              <a:buSzPts val="990"/>
              <a:buNone/>
            </a:pPr>
            <a:r>
              <a:rPr b="1" lang="ja" sz="2080">
                <a:solidFill>
                  <a:srgbClr val="193970"/>
                </a:solidFill>
              </a:rPr>
              <a:t>従量課金</a:t>
            </a:r>
            <a:endParaRPr b="1" sz="2080">
              <a:solidFill>
                <a:srgbClr val="193970"/>
              </a:solidFill>
            </a:endParaRPr>
          </a:p>
        </p:txBody>
      </p:sp>
      <p:sp>
        <p:nvSpPr>
          <p:cNvPr id="172" name="Google Shape;172;p22"/>
          <p:cNvSpPr txBox="1"/>
          <p:nvPr>
            <p:ph type="ctrTitle"/>
          </p:nvPr>
        </p:nvSpPr>
        <p:spPr>
          <a:xfrm>
            <a:off x="5085300" y="1835250"/>
            <a:ext cx="2080800" cy="58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3280" u="sng">
                <a:solidFill>
                  <a:srgbClr val="193970"/>
                </a:solidFill>
              </a:rPr>
              <a:t>Pro</a:t>
            </a:r>
            <a:endParaRPr b="1" sz="3280" u="sng">
              <a:solidFill>
                <a:srgbClr val="193970"/>
              </a:solidFill>
            </a:endParaRPr>
          </a:p>
        </p:txBody>
      </p:sp>
      <p:sp>
        <p:nvSpPr>
          <p:cNvPr id="173" name="Google Shape;173;p22"/>
          <p:cNvSpPr txBox="1"/>
          <p:nvPr>
            <p:ph type="ctrTitle"/>
          </p:nvPr>
        </p:nvSpPr>
        <p:spPr>
          <a:xfrm>
            <a:off x="429226" y="1521451"/>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990"/>
              <a:buFont typeface="Arial"/>
              <a:buNone/>
            </a:pPr>
            <a:r>
              <a:rPr lang="ja" sz="3580">
                <a:solidFill>
                  <a:srgbClr val="434343"/>
                </a:solidFill>
              </a:rPr>
              <a:t>💸</a:t>
            </a:r>
            <a:endParaRPr sz="3480">
              <a:solidFill>
                <a:srgbClr val="434343"/>
              </a:solidFill>
            </a:endParaRPr>
          </a:p>
        </p:txBody>
      </p:sp>
      <p:sp>
        <p:nvSpPr>
          <p:cNvPr id="174" name="Google Shape;174;p22"/>
          <p:cNvSpPr txBox="1"/>
          <p:nvPr>
            <p:ph type="ctrTitle"/>
          </p:nvPr>
        </p:nvSpPr>
        <p:spPr>
          <a:xfrm>
            <a:off x="2604676" y="66651"/>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75" name="Google Shape;175;p22"/>
          <p:cNvSpPr txBox="1"/>
          <p:nvPr>
            <p:ph type="ctrTitle"/>
          </p:nvPr>
        </p:nvSpPr>
        <p:spPr>
          <a:xfrm>
            <a:off x="3823051" y="4135576"/>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76" name="Google Shape;176;p22"/>
          <p:cNvSpPr txBox="1"/>
          <p:nvPr>
            <p:ph type="ctrTitle"/>
          </p:nvPr>
        </p:nvSpPr>
        <p:spPr>
          <a:xfrm>
            <a:off x="7361701" y="432726"/>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77" name="Google Shape;177;p22"/>
          <p:cNvSpPr txBox="1"/>
          <p:nvPr>
            <p:ph type="ctrTitle"/>
          </p:nvPr>
        </p:nvSpPr>
        <p:spPr>
          <a:xfrm>
            <a:off x="8149051" y="3283751"/>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78" name="Google Shape;178;p22"/>
          <p:cNvSpPr txBox="1"/>
          <p:nvPr>
            <p:ph type="ctrTitle"/>
          </p:nvPr>
        </p:nvSpPr>
        <p:spPr>
          <a:xfrm>
            <a:off x="6655551" y="4897876"/>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
        <p:nvSpPr>
          <p:cNvPr id="179" name="Google Shape;179;p22"/>
          <p:cNvSpPr txBox="1"/>
          <p:nvPr>
            <p:ph type="ctrTitle"/>
          </p:nvPr>
        </p:nvSpPr>
        <p:spPr>
          <a:xfrm>
            <a:off x="-335599" y="4897876"/>
            <a:ext cx="831600" cy="7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3580">
                <a:solidFill>
                  <a:srgbClr val="434343"/>
                </a:solidFill>
              </a:rPr>
              <a:t>💸</a:t>
            </a:r>
            <a:endParaRPr sz="348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83" name="Shape 183"/>
        <p:cNvGrpSpPr/>
        <p:nvPr/>
      </p:nvGrpSpPr>
      <p:grpSpPr>
        <a:xfrm>
          <a:off x="0" y="0"/>
          <a:ext cx="0" cy="0"/>
          <a:chOff x="0" y="0"/>
          <a:chExt cx="0" cy="0"/>
        </a:xfrm>
      </p:grpSpPr>
      <p:sp>
        <p:nvSpPr>
          <p:cNvPr id="184" name="Google Shape;18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185" name="Google Shape;185;p23"/>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GGAまでのロードマップ 🧭</a:t>
            </a:r>
            <a:endParaRPr b="1" sz="2480">
              <a:solidFill>
                <a:srgbClr val="193970"/>
              </a:solidFill>
            </a:endParaRPr>
          </a:p>
        </p:txBody>
      </p:sp>
      <p:sp>
        <p:nvSpPr>
          <p:cNvPr id="186" name="Google Shape;186;p23"/>
          <p:cNvSpPr txBox="1"/>
          <p:nvPr>
            <p:ph type="ctrTitle"/>
          </p:nvPr>
        </p:nvSpPr>
        <p:spPr>
          <a:xfrm>
            <a:off x="690200" y="1081300"/>
            <a:ext cx="1816800" cy="3993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480">
                <a:solidFill>
                  <a:srgbClr val="193970"/>
                </a:solidFill>
              </a:rPr>
              <a:t>Step 1</a:t>
            </a:r>
            <a:endParaRPr b="1" sz="2580">
              <a:solidFill>
                <a:srgbClr val="193970"/>
              </a:solidFill>
            </a:endParaRPr>
          </a:p>
        </p:txBody>
      </p:sp>
      <p:sp>
        <p:nvSpPr>
          <p:cNvPr id="187" name="Google Shape;187;p23"/>
          <p:cNvSpPr txBox="1"/>
          <p:nvPr>
            <p:ph type="ctrTitle"/>
          </p:nvPr>
        </p:nvSpPr>
        <p:spPr>
          <a:xfrm>
            <a:off x="690200" y="2673723"/>
            <a:ext cx="1816800" cy="3993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480">
                <a:solidFill>
                  <a:srgbClr val="193970"/>
                </a:solidFill>
              </a:rPr>
              <a:t>Step 2</a:t>
            </a:r>
            <a:endParaRPr b="1" sz="2580">
              <a:solidFill>
                <a:srgbClr val="193970"/>
              </a:solidFill>
            </a:endParaRPr>
          </a:p>
        </p:txBody>
      </p:sp>
      <p:sp>
        <p:nvSpPr>
          <p:cNvPr id="188" name="Google Shape;188;p23"/>
          <p:cNvSpPr txBox="1"/>
          <p:nvPr>
            <p:ph type="ctrTitle"/>
          </p:nvPr>
        </p:nvSpPr>
        <p:spPr>
          <a:xfrm>
            <a:off x="1168273" y="1576125"/>
            <a:ext cx="73845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・MVPの試用</a:t>
            </a:r>
            <a:endParaRPr sz="2080">
              <a:solidFill>
                <a:srgbClr val="193970"/>
              </a:solidFill>
            </a:endParaRPr>
          </a:p>
        </p:txBody>
      </p:sp>
      <p:sp>
        <p:nvSpPr>
          <p:cNvPr id="189" name="Google Shape;189;p23"/>
          <p:cNvSpPr txBox="1"/>
          <p:nvPr>
            <p:ph type="ctrTitle"/>
          </p:nvPr>
        </p:nvSpPr>
        <p:spPr>
          <a:xfrm>
            <a:off x="1168273" y="2014850"/>
            <a:ext cx="73845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a:t>
            </a:r>
            <a:r>
              <a:rPr lang="ja" sz="1979">
                <a:solidFill>
                  <a:srgbClr val="193970"/>
                </a:solidFill>
              </a:rPr>
              <a:t>ユーザーヒアリング</a:t>
            </a:r>
            <a:endParaRPr sz="2080">
              <a:solidFill>
                <a:srgbClr val="193970"/>
              </a:solidFill>
            </a:endParaRPr>
          </a:p>
        </p:txBody>
      </p:sp>
      <p:sp>
        <p:nvSpPr>
          <p:cNvPr id="190" name="Google Shape;190;p23"/>
          <p:cNvSpPr txBox="1"/>
          <p:nvPr>
            <p:ph type="ctrTitle"/>
          </p:nvPr>
        </p:nvSpPr>
        <p:spPr>
          <a:xfrm>
            <a:off x="1168273" y="3160100"/>
            <a:ext cx="73845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a:t>
            </a:r>
            <a:r>
              <a:rPr lang="ja" sz="1979">
                <a:solidFill>
                  <a:srgbClr val="193970"/>
                </a:solidFill>
              </a:rPr>
              <a:t>ユーザーヒアリングFBから改善</a:t>
            </a:r>
            <a:endParaRPr sz="2080">
              <a:solidFill>
                <a:srgbClr val="193970"/>
              </a:solidFill>
            </a:endParaRPr>
          </a:p>
        </p:txBody>
      </p:sp>
      <p:sp>
        <p:nvSpPr>
          <p:cNvPr id="191" name="Google Shape;191;p23"/>
          <p:cNvSpPr txBox="1"/>
          <p:nvPr>
            <p:ph type="ctrTitle"/>
          </p:nvPr>
        </p:nvSpPr>
        <p:spPr>
          <a:xfrm>
            <a:off x="1168273" y="3590788"/>
            <a:ext cx="73845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a:t>
            </a:r>
            <a:r>
              <a:rPr lang="ja" sz="1979">
                <a:solidFill>
                  <a:srgbClr val="193970"/>
                </a:solidFill>
              </a:rPr>
              <a:t>分析結果を後から見返せる機能を追加</a:t>
            </a:r>
            <a:endParaRPr sz="2080">
              <a:solidFill>
                <a:srgbClr val="193970"/>
              </a:solidFill>
            </a:endParaRPr>
          </a:p>
        </p:txBody>
      </p:sp>
      <p:sp>
        <p:nvSpPr>
          <p:cNvPr id="192" name="Google Shape;192;p23"/>
          <p:cNvSpPr txBox="1"/>
          <p:nvPr>
            <p:ph type="ctrTitle"/>
          </p:nvPr>
        </p:nvSpPr>
        <p:spPr>
          <a:xfrm>
            <a:off x="1168273" y="4050813"/>
            <a:ext cx="73845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ja" sz="1979">
                <a:solidFill>
                  <a:srgbClr val="193970"/>
                </a:solidFill>
              </a:rPr>
              <a:t>・GGAで</a:t>
            </a:r>
            <a:r>
              <a:rPr lang="ja" sz="1979">
                <a:solidFill>
                  <a:srgbClr val="193970"/>
                </a:solidFill>
              </a:rPr>
              <a:t>ベータ版使用枠を募集！</a:t>
            </a:r>
            <a:endParaRPr sz="2080">
              <a:solidFill>
                <a:srgbClr val="193970"/>
              </a:solidFill>
            </a:endParaRPr>
          </a:p>
        </p:txBody>
      </p:sp>
      <p:sp>
        <p:nvSpPr>
          <p:cNvPr id="193" name="Google Shape;193;p23"/>
          <p:cNvSpPr txBox="1"/>
          <p:nvPr>
            <p:ph type="ctrTitle"/>
          </p:nvPr>
        </p:nvSpPr>
        <p:spPr>
          <a:xfrm>
            <a:off x="413075" y="977450"/>
            <a:ext cx="705300" cy="6351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3980">
                <a:solidFill>
                  <a:srgbClr val="FDCF60"/>
                </a:solidFill>
              </a:rPr>
              <a:t>▶️</a:t>
            </a:r>
            <a:endParaRPr b="1" sz="3980">
              <a:solidFill>
                <a:srgbClr val="FDCF60"/>
              </a:solidFill>
            </a:endParaRPr>
          </a:p>
        </p:txBody>
      </p:sp>
      <p:sp>
        <p:nvSpPr>
          <p:cNvPr id="194" name="Google Shape;194;p23"/>
          <p:cNvSpPr txBox="1"/>
          <p:nvPr>
            <p:ph type="ctrTitle"/>
          </p:nvPr>
        </p:nvSpPr>
        <p:spPr>
          <a:xfrm>
            <a:off x="413075" y="2555833"/>
            <a:ext cx="705300" cy="6351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3980">
                <a:solidFill>
                  <a:srgbClr val="FDCF60"/>
                </a:solidFill>
              </a:rPr>
              <a:t>▶️</a:t>
            </a:r>
            <a:endParaRPr b="1" sz="3980">
              <a:solidFill>
                <a:srgbClr val="FDCF60"/>
              </a:solidFill>
            </a:endParaRPr>
          </a:p>
        </p:txBody>
      </p:sp>
      <p:sp>
        <p:nvSpPr>
          <p:cNvPr id="195" name="Google Shape;195;p23"/>
          <p:cNvSpPr/>
          <p:nvPr/>
        </p:nvSpPr>
        <p:spPr>
          <a:xfrm>
            <a:off x="0" y="4767300"/>
            <a:ext cx="9144000" cy="376200"/>
          </a:xfrm>
          <a:prstGeom prst="rect">
            <a:avLst/>
          </a:prstGeom>
          <a:solidFill>
            <a:srgbClr val="FDCF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199" name="Shape 199"/>
        <p:cNvGrpSpPr/>
        <p:nvPr/>
      </p:nvGrpSpPr>
      <p:grpSpPr>
        <a:xfrm>
          <a:off x="0" y="0"/>
          <a:ext cx="0" cy="0"/>
          <a:chOff x="0" y="0"/>
          <a:chExt cx="0" cy="0"/>
        </a:xfrm>
      </p:grpSpPr>
      <p:sp>
        <p:nvSpPr>
          <p:cNvPr id="200" name="Google Shape;20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01" name="Google Shape;201;p24"/>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GGA</a:t>
            </a:r>
            <a:r>
              <a:rPr b="1" lang="ja" sz="2380">
                <a:solidFill>
                  <a:srgbClr val="193970"/>
                </a:solidFill>
              </a:rPr>
              <a:t>以降の</a:t>
            </a:r>
            <a:r>
              <a:rPr b="1" lang="ja" sz="2380">
                <a:solidFill>
                  <a:srgbClr val="193970"/>
                </a:solidFill>
              </a:rPr>
              <a:t>ロードマップ </a:t>
            </a:r>
            <a:r>
              <a:rPr b="1" lang="ja" sz="2380">
                <a:solidFill>
                  <a:srgbClr val="193970"/>
                </a:solidFill>
              </a:rPr>
              <a:t>🗺️</a:t>
            </a:r>
            <a:endParaRPr b="1" sz="2480">
              <a:solidFill>
                <a:srgbClr val="193970"/>
              </a:solidFill>
            </a:endParaRPr>
          </a:p>
        </p:txBody>
      </p:sp>
      <p:sp>
        <p:nvSpPr>
          <p:cNvPr id="202" name="Google Shape;202;p24"/>
          <p:cNvSpPr txBox="1"/>
          <p:nvPr>
            <p:ph type="ctrTitle"/>
          </p:nvPr>
        </p:nvSpPr>
        <p:spPr>
          <a:xfrm>
            <a:off x="1665725" y="2376250"/>
            <a:ext cx="1613100" cy="3993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180">
                <a:solidFill>
                  <a:srgbClr val="193970"/>
                </a:solidFill>
              </a:rPr>
              <a:t>2023.11</a:t>
            </a:r>
            <a:endParaRPr b="1" sz="1879">
              <a:solidFill>
                <a:srgbClr val="193970"/>
              </a:solidFill>
            </a:endParaRPr>
          </a:p>
        </p:txBody>
      </p:sp>
      <p:sp>
        <p:nvSpPr>
          <p:cNvPr id="203" name="Google Shape;203;p24"/>
          <p:cNvSpPr txBox="1"/>
          <p:nvPr>
            <p:ph type="ctrTitle"/>
          </p:nvPr>
        </p:nvSpPr>
        <p:spPr>
          <a:xfrm>
            <a:off x="1589525" y="2889100"/>
            <a:ext cx="1819200" cy="34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679">
                <a:solidFill>
                  <a:srgbClr val="193970"/>
                </a:solidFill>
              </a:rPr>
              <a:t>・β版</a:t>
            </a:r>
            <a:r>
              <a:rPr lang="ja" sz="1679">
                <a:solidFill>
                  <a:srgbClr val="193970"/>
                </a:solidFill>
              </a:rPr>
              <a:t>リリース</a:t>
            </a:r>
            <a:endParaRPr sz="1779">
              <a:solidFill>
                <a:srgbClr val="193970"/>
              </a:solidFill>
            </a:endParaRPr>
          </a:p>
        </p:txBody>
      </p:sp>
      <p:cxnSp>
        <p:nvCxnSpPr>
          <p:cNvPr id="204" name="Google Shape;204;p24"/>
          <p:cNvCxnSpPr/>
          <p:nvPr/>
        </p:nvCxnSpPr>
        <p:spPr>
          <a:xfrm>
            <a:off x="1540500" y="2211400"/>
            <a:ext cx="6114600" cy="0"/>
          </a:xfrm>
          <a:prstGeom prst="straightConnector1">
            <a:avLst/>
          </a:prstGeom>
          <a:noFill/>
          <a:ln cap="flat" cmpd="sng" w="19050">
            <a:solidFill>
              <a:srgbClr val="B7B7B7"/>
            </a:solidFill>
            <a:prstDash val="solid"/>
            <a:round/>
            <a:headEnd len="med" w="med" type="none"/>
            <a:tailEnd len="med" w="med" type="none"/>
          </a:ln>
        </p:spPr>
      </p:cxnSp>
      <p:sp>
        <p:nvSpPr>
          <p:cNvPr id="205" name="Google Shape;205;p24"/>
          <p:cNvSpPr/>
          <p:nvPr/>
        </p:nvSpPr>
        <p:spPr>
          <a:xfrm>
            <a:off x="2425775" y="2171550"/>
            <a:ext cx="93000" cy="93000"/>
          </a:xfrm>
          <a:prstGeom prst="ellipse">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4"/>
          <p:cNvSpPr/>
          <p:nvPr/>
        </p:nvSpPr>
        <p:spPr>
          <a:xfrm>
            <a:off x="4435625" y="2171550"/>
            <a:ext cx="93000" cy="93000"/>
          </a:xfrm>
          <a:prstGeom prst="ellipse">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4"/>
          <p:cNvSpPr/>
          <p:nvPr/>
        </p:nvSpPr>
        <p:spPr>
          <a:xfrm>
            <a:off x="6445475" y="2171550"/>
            <a:ext cx="93000" cy="93000"/>
          </a:xfrm>
          <a:prstGeom prst="ellipse">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4"/>
          <p:cNvSpPr txBox="1"/>
          <p:nvPr>
            <p:ph type="ctrTitle"/>
          </p:nvPr>
        </p:nvSpPr>
        <p:spPr>
          <a:xfrm>
            <a:off x="3675575" y="2376250"/>
            <a:ext cx="1613100" cy="3993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180">
                <a:solidFill>
                  <a:srgbClr val="193970"/>
                </a:solidFill>
              </a:rPr>
              <a:t>2024.3</a:t>
            </a:r>
            <a:endParaRPr b="1" sz="1879">
              <a:solidFill>
                <a:srgbClr val="193970"/>
              </a:solidFill>
            </a:endParaRPr>
          </a:p>
        </p:txBody>
      </p:sp>
      <p:sp>
        <p:nvSpPr>
          <p:cNvPr id="209" name="Google Shape;209;p24"/>
          <p:cNvSpPr txBox="1"/>
          <p:nvPr>
            <p:ph type="ctrTitle"/>
          </p:nvPr>
        </p:nvSpPr>
        <p:spPr>
          <a:xfrm>
            <a:off x="5685425" y="2376250"/>
            <a:ext cx="1613100" cy="3993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180">
                <a:solidFill>
                  <a:srgbClr val="193970"/>
                </a:solidFill>
              </a:rPr>
              <a:t>2024.9</a:t>
            </a:r>
            <a:endParaRPr b="1" sz="1879">
              <a:solidFill>
                <a:srgbClr val="193970"/>
              </a:solidFill>
            </a:endParaRPr>
          </a:p>
        </p:txBody>
      </p:sp>
      <p:sp>
        <p:nvSpPr>
          <p:cNvPr id="210" name="Google Shape;210;p24"/>
          <p:cNvSpPr txBox="1"/>
          <p:nvPr>
            <p:ph type="ctrTitle"/>
          </p:nvPr>
        </p:nvSpPr>
        <p:spPr>
          <a:xfrm>
            <a:off x="1589525" y="3345850"/>
            <a:ext cx="1819200" cy="104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679">
                <a:solidFill>
                  <a:srgbClr val="193970"/>
                </a:solidFill>
              </a:rPr>
              <a:t>・GGA</a:t>
            </a:r>
            <a:r>
              <a:rPr lang="ja" sz="1679">
                <a:solidFill>
                  <a:srgbClr val="193970"/>
                </a:solidFill>
              </a:rPr>
              <a:t>参加者の</a:t>
            </a:r>
            <a:endParaRPr sz="1679">
              <a:solidFill>
                <a:srgbClr val="193970"/>
              </a:solidFill>
            </a:endParaRPr>
          </a:p>
          <a:p>
            <a:pPr indent="0" lvl="0" marL="0" rtl="0" algn="l">
              <a:spcBef>
                <a:spcPts val="0"/>
              </a:spcBef>
              <a:spcAft>
                <a:spcPts val="0"/>
              </a:spcAft>
              <a:buSzPts val="990"/>
              <a:buNone/>
            </a:pPr>
            <a:r>
              <a:rPr lang="ja" sz="1679">
                <a:solidFill>
                  <a:srgbClr val="193970"/>
                </a:solidFill>
              </a:rPr>
              <a:t>　希望者に使用</a:t>
            </a:r>
            <a:endParaRPr sz="1679">
              <a:solidFill>
                <a:srgbClr val="193970"/>
              </a:solidFill>
            </a:endParaRPr>
          </a:p>
          <a:p>
            <a:pPr indent="0" lvl="0" marL="0" rtl="0" algn="l">
              <a:spcBef>
                <a:spcPts val="0"/>
              </a:spcBef>
              <a:spcAft>
                <a:spcPts val="0"/>
              </a:spcAft>
              <a:buSzPts val="990"/>
              <a:buNone/>
            </a:pPr>
            <a:r>
              <a:rPr lang="ja" sz="1679">
                <a:solidFill>
                  <a:srgbClr val="193970"/>
                </a:solidFill>
              </a:rPr>
              <a:t>　してもらう</a:t>
            </a:r>
            <a:endParaRPr sz="1679">
              <a:solidFill>
                <a:srgbClr val="193970"/>
              </a:solidFill>
            </a:endParaRPr>
          </a:p>
        </p:txBody>
      </p:sp>
      <p:sp>
        <p:nvSpPr>
          <p:cNvPr id="211" name="Google Shape;211;p24"/>
          <p:cNvSpPr txBox="1"/>
          <p:nvPr>
            <p:ph type="ctrTitle"/>
          </p:nvPr>
        </p:nvSpPr>
        <p:spPr>
          <a:xfrm>
            <a:off x="3675575" y="2887250"/>
            <a:ext cx="1819200" cy="34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679">
                <a:solidFill>
                  <a:srgbClr val="193970"/>
                </a:solidFill>
              </a:rPr>
              <a:t>・</a:t>
            </a:r>
            <a:r>
              <a:rPr lang="ja" sz="1679">
                <a:solidFill>
                  <a:srgbClr val="193970"/>
                </a:solidFill>
              </a:rPr>
              <a:t>正式</a:t>
            </a:r>
            <a:r>
              <a:rPr lang="ja" sz="1679">
                <a:solidFill>
                  <a:srgbClr val="193970"/>
                </a:solidFill>
              </a:rPr>
              <a:t>リリース</a:t>
            </a:r>
            <a:endParaRPr sz="1779">
              <a:solidFill>
                <a:srgbClr val="193970"/>
              </a:solidFill>
            </a:endParaRPr>
          </a:p>
        </p:txBody>
      </p:sp>
      <p:sp>
        <p:nvSpPr>
          <p:cNvPr id="212" name="Google Shape;212;p24"/>
          <p:cNvSpPr txBox="1"/>
          <p:nvPr>
            <p:ph type="ctrTitle"/>
          </p:nvPr>
        </p:nvSpPr>
        <p:spPr>
          <a:xfrm>
            <a:off x="5792325" y="2887250"/>
            <a:ext cx="1819200" cy="34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679">
                <a:solidFill>
                  <a:srgbClr val="193970"/>
                </a:solidFill>
              </a:rPr>
              <a:t>・</a:t>
            </a:r>
            <a:r>
              <a:rPr lang="ja" sz="1679">
                <a:solidFill>
                  <a:srgbClr val="193970"/>
                </a:solidFill>
              </a:rPr>
              <a:t>会社登記</a:t>
            </a:r>
            <a:endParaRPr sz="1779">
              <a:solidFill>
                <a:srgbClr val="193970"/>
              </a:solidFill>
            </a:endParaRPr>
          </a:p>
        </p:txBody>
      </p:sp>
      <p:sp>
        <p:nvSpPr>
          <p:cNvPr id="213" name="Google Shape;213;p24"/>
          <p:cNvSpPr txBox="1"/>
          <p:nvPr>
            <p:ph type="ctrTitle"/>
          </p:nvPr>
        </p:nvSpPr>
        <p:spPr>
          <a:xfrm>
            <a:off x="6105429" y="1475075"/>
            <a:ext cx="773100" cy="70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180">
                <a:solidFill>
                  <a:srgbClr val="434343"/>
                </a:solidFill>
              </a:rPr>
              <a:t>🏢</a:t>
            </a:r>
            <a:endParaRPr sz="4080">
              <a:solidFill>
                <a:srgbClr val="434343"/>
              </a:solidFill>
            </a:endParaRPr>
          </a:p>
        </p:txBody>
      </p:sp>
      <p:sp>
        <p:nvSpPr>
          <p:cNvPr id="214" name="Google Shape;214;p24"/>
          <p:cNvSpPr txBox="1"/>
          <p:nvPr>
            <p:ph type="ctrTitle"/>
          </p:nvPr>
        </p:nvSpPr>
        <p:spPr>
          <a:xfrm>
            <a:off x="4095564" y="1475075"/>
            <a:ext cx="773100" cy="70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180">
                <a:solidFill>
                  <a:srgbClr val="434343"/>
                </a:solidFill>
              </a:rPr>
              <a:t>🎉</a:t>
            </a:r>
            <a:endParaRPr sz="4180">
              <a:solidFill>
                <a:srgbClr val="434343"/>
              </a:solidFill>
            </a:endParaRPr>
          </a:p>
        </p:txBody>
      </p:sp>
      <p:sp>
        <p:nvSpPr>
          <p:cNvPr id="215" name="Google Shape;215;p24"/>
          <p:cNvSpPr txBox="1"/>
          <p:nvPr>
            <p:ph type="ctrTitle"/>
          </p:nvPr>
        </p:nvSpPr>
        <p:spPr>
          <a:xfrm>
            <a:off x="2085725" y="1476000"/>
            <a:ext cx="773100" cy="70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ja" sz="4180">
                <a:solidFill>
                  <a:srgbClr val="434343"/>
                </a:solidFill>
              </a:rPr>
              <a:t>🔧</a:t>
            </a:r>
            <a:endParaRPr sz="4180">
              <a:solidFill>
                <a:srgbClr val="434343"/>
              </a:solidFill>
            </a:endParaRPr>
          </a:p>
        </p:txBody>
      </p:sp>
      <p:sp>
        <p:nvSpPr>
          <p:cNvPr id="216" name="Google Shape;216;p24"/>
          <p:cNvSpPr/>
          <p:nvPr/>
        </p:nvSpPr>
        <p:spPr>
          <a:xfrm>
            <a:off x="0" y="4767300"/>
            <a:ext cx="9144000" cy="376200"/>
          </a:xfrm>
          <a:prstGeom prst="rect">
            <a:avLst/>
          </a:prstGeom>
          <a:solidFill>
            <a:srgbClr val="FDCF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220" name="Shape 220"/>
        <p:cNvGrpSpPr/>
        <p:nvPr/>
      </p:nvGrpSpPr>
      <p:grpSpPr>
        <a:xfrm>
          <a:off x="0" y="0"/>
          <a:ext cx="0" cy="0"/>
          <a:chOff x="0" y="0"/>
          <a:chExt cx="0" cy="0"/>
        </a:xfrm>
      </p:grpSpPr>
      <p:sp>
        <p:nvSpPr>
          <p:cNvPr id="221" name="Google Shape;22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
        <p:nvSpPr>
          <p:cNvPr id="222" name="Google Shape;222;p25"/>
          <p:cNvSpPr txBox="1"/>
          <p:nvPr>
            <p:ph type="ctrTitle"/>
          </p:nvPr>
        </p:nvSpPr>
        <p:spPr>
          <a:xfrm>
            <a:off x="470975" y="1942350"/>
            <a:ext cx="8202000" cy="125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ja" sz="2480">
                <a:solidFill>
                  <a:srgbClr val="434343"/>
                </a:solidFill>
              </a:rPr>
              <a:t>事業やサービスを立ち上げたい人</a:t>
            </a:r>
            <a:r>
              <a:rPr lang="ja" sz="2480">
                <a:solidFill>
                  <a:srgbClr val="434343"/>
                </a:solidFill>
              </a:rPr>
              <a:t>が、</a:t>
            </a:r>
            <a:endParaRPr sz="2480">
              <a:solidFill>
                <a:srgbClr val="434343"/>
              </a:solidFill>
            </a:endParaRPr>
          </a:p>
          <a:p>
            <a:pPr indent="0" lvl="0" marL="0" rtl="0" algn="ctr">
              <a:spcBef>
                <a:spcPts val="0"/>
              </a:spcBef>
              <a:spcAft>
                <a:spcPts val="0"/>
              </a:spcAft>
              <a:buSzPts val="990"/>
              <a:buNone/>
            </a:pPr>
            <a:r>
              <a:rPr b="1" lang="ja" sz="2480">
                <a:solidFill>
                  <a:srgbClr val="434343"/>
                </a:solidFill>
              </a:rPr>
              <a:t>周囲を巻き込みやすくなる世界</a:t>
            </a:r>
            <a:endParaRPr sz="2480">
              <a:solidFill>
                <a:srgbClr val="434343"/>
              </a:solidFill>
            </a:endParaRPr>
          </a:p>
        </p:txBody>
      </p:sp>
      <p:sp>
        <p:nvSpPr>
          <p:cNvPr id="223" name="Google Shape;223;p25"/>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実現したい世界 🌏</a:t>
            </a:r>
            <a:endParaRPr b="1" sz="2480">
              <a:solidFill>
                <a:srgbClr val="19397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BE0"/>
        </a:solidFill>
      </p:bgPr>
    </p:bg>
    <p:spTree>
      <p:nvGrpSpPr>
        <p:cNvPr id="227" name="Shape 227"/>
        <p:cNvGrpSpPr/>
        <p:nvPr/>
      </p:nvGrpSpPr>
      <p:grpSpPr>
        <a:xfrm>
          <a:off x="0" y="0"/>
          <a:ext cx="0" cy="0"/>
          <a:chOff x="0" y="0"/>
          <a:chExt cx="0" cy="0"/>
        </a:xfrm>
      </p:grpSpPr>
      <p:sp>
        <p:nvSpPr>
          <p:cNvPr id="228" name="Google Shape;228;p26"/>
          <p:cNvSpPr/>
          <p:nvPr/>
        </p:nvSpPr>
        <p:spPr>
          <a:xfrm>
            <a:off x="1991700" y="2419109"/>
            <a:ext cx="5244000" cy="1420200"/>
          </a:xfrm>
          <a:prstGeom prst="roundRect">
            <a:avLst>
              <a:gd fmla="val 7713" name="adj"/>
            </a:avLst>
          </a:prstGeom>
          <a:no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6"/>
          <p:cNvSpPr/>
          <p:nvPr/>
        </p:nvSpPr>
        <p:spPr>
          <a:xfrm>
            <a:off x="1991700" y="797400"/>
            <a:ext cx="5244000" cy="1420200"/>
          </a:xfrm>
          <a:prstGeom prst="roundRect">
            <a:avLst>
              <a:gd fmla="val 7713" name="adj"/>
            </a:avLst>
          </a:prstGeom>
          <a:no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6"/>
          <p:cNvSpPr txBox="1"/>
          <p:nvPr>
            <p:ph type="ctrTitle"/>
          </p:nvPr>
        </p:nvSpPr>
        <p:spPr>
          <a:xfrm>
            <a:off x="3721500" y="1434375"/>
            <a:ext cx="307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480">
                <a:solidFill>
                  <a:srgbClr val="193970"/>
                </a:solidFill>
              </a:rPr>
              <a:t>DEV25期 渡邊里奈</a:t>
            </a:r>
            <a:endParaRPr b="1" sz="2480">
              <a:solidFill>
                <a:srgbClr val="193970"/>
              </a:solidFill>
            </a:endParaRPr>
          </a:p>
        </p:txBody>
      </p:sp>
      <p:sp>
        <p:nvSpPr>
          <p:cNvPr id="231" name="Google Shape;23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pic>
        <p:nvPicPr>
          <p:cNvPr id="232" name="Google Shape;232;p26"/>
          <p:cNvPicPr preferRelativeResize="0"/>
          <p:nvPr/>
        </p:nvPicPr>
        <p:blipFill rotWithShape="1">
          <a:blip r:embed="rId3">
            <a:alphaModFix/>
          </a:blip>
          <a:srcRect b="42010" l="30846" r="19223" t="29783"/>
          <a:stretch/>
        </p:blipFill>
        <p:spPr>
          <a:xfrm>
            <a:off x="2384829" y="1104225"/>
            <a:ext cx="1001100" cy="1003500"/>
          </a:xfrm>
          <a:prstGeom prst="ellipse">
            <a:avLst/>
          </a:prstGeom>
          <a:noFill/>
          <a:ln>
            <a:noFill/>
          </a:ln>
        </p:spPr>
      </p:pic>
      <p:pic>
        <p:nvPicPr>
          <p:cNvPr id="233" name="Google Shape;233;p26"/>
          <p:cNvPicPr preferRelativeResize="0"/>
          <p:nvPr/>
        </p:nvPicPr>
        <p:blipFill rotWithShape="1">
          <a:blip r:embed="rId4">
            <a:alphaModFix/>
          </a:blip>
          <a:srcRect b="0" l="1998" r="29073" t="0"/>
          <a:stretch/>
        </p:blipFill>
        <p:spPr>
          <a:xfrm>
            <a:off x="2384825" y="2720648"/>
            <a:ext cx="1001100" cy="1003500"/>
          </a:xfrm>
          <a:prstGeom prst="ellipse">
            <a:avLst/>
          </a:prstGeom>
          <a:noFill/>
          <a:ln>
            <a:noFill/>
          </a:ln>
        </p:spPr>
      </p:pic>
      <p:sp>
        <p:nvSpPr>
          <p:cNvPr id="234" name="Google Shape;234;p26"/>
          <p:cNvSpPr txBox="1"/>
          <p:nvPr>
            <p:ph type="ctrTitle"/>
          </p:nvPr>
        </p:nvSpPr>
        <p:spPr>
          <a:xfrm>
            <a:off x="3721500" y="3050788"/>
            <a:ext cx="307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480">
                <a:solidFill>
                  <a:srgbClr val="193970"/>
                </a:solidFill>
              </a:rPr>
              <a:t>D</a:t>
            </a:r>
            <a:r>
              <a:rPr b="1" lang="ja" sz="2480">
                <a:solidFill>
                  <a:srgbClr val="193970"/>
                </a:solidFill>
              </a:rPr>
              <a:t>EV</a:t>
            </a:r>
            <a:r>
              <a:rPr b="1" lang="ja" sz="2480">
                <a:solidFill>
                  <a:srgbClr val="193970"/>
                </a:solidFill>
              </a:rPr>
              <a:t>25期 </a:t>
            </a:r>
            <a:r>
              <a:rPr b="1" lang="ja" sz="2480">
                <a:solidFill>
                  <a:srgbClr val="193970"/>
                </a:solidFill>
              </a:rPr>
              <a:t>小菅達矢</a:t>
            </a:r>
            <a:endParaRPr b="1" sz="2480">
              <a:solidFill>
                <a:srgbClr val="193970"/>
              </a:solidFill>
            </a:endParaRPr>
          </a:p>
        </p:txBody>
      </p:sp>
      <p:sp>
        <p:nvSpPr>
          <p:cNvPr id="235" name="Google Shape;235;p26"/>
          <p:cNvSpPr txBox="1"/>
          <p:nvPr>
            <p:ph type="ctrTitle"/>
          </p:nvPr>
        </p:nvSpPr>
        <p:spPr>
          <a:xfrm>
            <a:off x="878850" y="4050200"/>
            <a:ext cx="8066100" cy="85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  </a:t>
            </a:r>
            <a:r>
              <a:rPr b="1" lang="ja" sz="2380">
                <a:solidFill>
                  <a:srgbClr val="193970"/>
                </a:solidFill>
              </a:rPr>
              <a:t>GGAでベータ版使用枠を募集します🙋</a:t>
            </a:r>
            <a:endParaRPr b="1" sz="2380">
              <a:solidFill>
                <a:srgbClr val="193970"/>
              </a:solidFill>
            </a:endParaRPr>
          </a:p>
          <a:p>
            <a:pPr indent="0" lvl="0" marL="0" rtl="0" algn="l">
              <a:spcBef>
                <a:spcPts val="0"/>
              </a:spcBef>
              <a:spcAft>
                <a:spcPts val="0"/>
              </a:spcAft>
              <a:buClr>
                <a:schemeClr val="dk1"/>
              </a:buClr>
              <a:buSzPts val="990"/>
              <a:buFont typeface="Arial"/>
              <a:buNone/>
            </a:pPr>
            <a:r>
              <a:t/>
            </a:r>
            <a:endParaRPr b="1" sz="300">
              <a:solidFill>
                <a:srgbClr val="193970"/>
              </a:solidFill>
            </a:endParaRPr>
          </a:p>
          <a:p>
            <a:pPr indent="0" lvl="0" marL="0" rtl="0" algn="l">
              <a:spcBef>
                <a:spcPts val="0"/>
              </a:spcBef>
              <a:spcAft>
                <a:spcPts val="0"/>
              </a:spcAft>
              <a:buSzPts val="990"/>
              <a:buNone/>
            </a:pPr>
            <a:r>
              <a:rPr b="1" lang="ja" sz="1879">
                <a:solidFill>
                  <a:srgbClr val="193970"/>
                </a:solidFill>
              </a:rPr>
              <a:t>「使ってみたい！」という方ぜひお声がけください </a:t>
            </a:r>
            <a:r>
              <a:rPr b="1" lang="ja" sz="1879">
                <a:solidFill>
                  <a:srgbClr val="193970"/>
                </a:solidFill>
              </a:rPr>
              <a:t> ※1日3回までの使用</a:t>
            </a:r>
            <a:endParaRPr b="1" sz="1979">
              <a:solidFill>
                <a:srgbClr val="193970"/>
              </a:solidFill>
            </a:endParaRPr>
          </a:p>
        </p:txBody>
      </p:sp>
      <p:sp>
        <p:nvSpPr>
          <p:cNvPr id="236" name="Google Shape;236;p26"/>
          <p:cNvSpPr/>
          <p:nvPr/>
        </p:nvSpPr>
        <p:spPr>
          <a:xfrm>
            <a:off x="5531400" y="930775"/>
            <a:ext cx="1527300" cy="343200"/>
          </a:xfrm>
          <a:prstGeom prst="roundRect">
            <a:avLst>
              <a:gd fmla="val 12770" name="adj"/>
            </a:avLst>
          </a:prstGeom>
          <a:solidFill>
            <a:srgbClr val="FDCF60"/>
          </a:solid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193970"/>
                </a:solidFill>
              </a:rPr>
              <a:t>起業希望</a:t>
            </a:r>
            <a:endParaRPr b="1">
              <a:solidFill>
                <a:srgbClr val="193970"/>
              </a:solidFill>
            </a:endParaRPr>
          </a:p>
        </p:txBody>
      </p:sp>
      <p:sp>
        <p:nvSpPr>
          <p:cNvPr id="237" name="Google Shape;237;p26"/>
          <p:cNvSpPr txBox="1"/>
          <p:nvPr>
            <p:ph type="ctrTitle"/>
          </p:nvPr>
        </p:nvSpPr>
        <p:spPr>
          <a:xfrm>
            <a:off x="260663" y="276188"/>
            <a:ext cx="8622600" cy="34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ja" sz="2380">
                <a:solidFill>
                  <a:srgbClr val="193970"/>
                </a:solidFill>
              </a:rPr>
              <a:t>チームメンバー</a:t>
            </a:r>
            <a:endParaRPr b="1" sz="2480">
              <a:solidFill>
                <a:srgbClr val="193970"/>
              </a:solidFill>
            </a:endParaRPr>
          </a:p>
        </p:txBody>
      </p:sp>
      <p:sp>
        <p:nvSpPr>
          <p:cNvPr id="238" name="Google Shape;238;p26"/>
          <p:cNvSpPr/>
          <p:nvPr/>
        </p:nvSpPr>
        <p:spPr>
          <a:xfrm>
            <a:off x="5531400" y="2538450"/>
            <a:ext cx="1527300" cy="343200"/>
          </a:xfrm>
          <a:prstGeom prst="roundRect">
            <a:avLst>
              <a:gd fmla="val 12770" name="adj"/>
            </a:avLst>
          </a:prstGeom>
          <a:solidFill>
            <a:srgbClr val="FDCF60"/>
          </a:solidFill>
          <a:ln cap="flat" cmpd="sng" w="38100">
            <a:solidFill>
              <a:srgbClr val="FDCF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193970"/>
                </a:solidFill>
              </a:rPr>
              <a:t>起業希望</a:t>
            </a:r>
            <a:endParaRPr b="1">
              <a:solidFill>
                <a:srgbClr val="19397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